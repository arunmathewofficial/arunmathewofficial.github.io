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rels" ContentType="application/vnd.openxmlformats-package.relationships+xml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15"/>
  </p:notesMasterIdLst>
  <p:handoutMasterIdLst>
    <p:handoutMasterId r:id="rId16"/>
  </p:handoutMasterIdLst>
  <p:sldIdLst>
    <p:sldId id="267" r:id="rId2"/>
    <p:sldId id="256" r:id="rId3"/>
    <p:sldId id="258" r:id="rId4"/>
    <p:sldId id="259" r:id="rId5"/>
    <p:sldId id="260" r:id="rId6"/>
    <p:sldId id="257" r:id="rId7"/>
    <p:sldId id="268" r:id="rId8"/>
    <p:sldId id="261" r:id="rId9"/>
    <p:sldId id="262" r:id="rId10"/>
    <p:sldId id="266" r:id="rId11"/>
    <p:sldId id="263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9F3"/>
    <a:srgbClr val="FBF9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>
        <p:scale>
          <a:sx n="66" d="100"/>
          <a:sy n="66" d="100"/>
        </p:scale>
        <p:origin x="-210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1" d="100"/>
          <a:sy n="61" d="100"/>
        </p:scale>
        <p:origin x="-3600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79138-246B-784A-A6FA-C6C5E399DF4D}" type="datetimeFigureOut">
              <a:rPr lang="en-US" smtClean="0"/>
              <a:t>1/4/13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FDAF5-98AC-0444-A0BC-62D00B5C0D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973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084833-5E38-154B-A27B-58E6AECF82D4}" type="datetimeFigureOut">
              <a:rPr lang="en-US" smtClean="0"/>
              <a:pPr/>
              <a:t>1/4/13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E7179-23E9-D84D-A762-0EA8CE5A33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982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1CAED2-AE25-9140-831A-4CEFF8D9B391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itlePage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676401"/>
            <a:ext cx="8001000" cy="242476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56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4419600"/>
            <a:ext cx="8001000" cy="1219200"/>
          </a:xfrm>
        </p:spPr>
        <p:txBody>
          <a:bodyPr/>
          <a:lstStyle>
            <a:lvl1pPr marL="0" indent="0" algn="ctr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734C-E115-4BC5-9FB0-F9BF6FABFDA0}" type="datetimeFigureOut">
              <a:rPr lang="en-US" smtClean="0"/>
              <a:t>1/4/13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C4FB-7D33-419B-8833-D1372BFD11C8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standardR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100" y="4191000"/>
            <a:ext cx="3733800" cy="152400"/>
          </a:xfrm>
          <a:prstGeom prst="rect">
            <a:avLst/>
          </a:prstGeom>
          <a:effectLst>
            <a:outerShdw blurRad="25400" sx="101000" sy="101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74638"/>
            <a:ext cx="80010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AA469-06A3-F942-B606-8D61A135385C}" type="datetimeFigureOut">
              <a:rPr lang="en-US" smtClean="0"/>
              <a:pPr/>
              <a:t>1/4/13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EB4F-E7F4-354A-B879-B5759143E9D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standard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0" y="1524000"/>
            <a:ext cx="3733800" cy="152400"/>
          </a:xfrm>
          <a:prstGeom prst="rect">
            <a:avLst/>
          </a:prstGeom>
          <a:effectLst>
            <a:outerShdw blurRad="25400" sx="101000" sy="101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itlePage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2057401"/>
            <a:ext cx="8001000" cy="242476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56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4800600"/>
            <a:ext cx="8001000" cy="1219200"/>
          </a:xfrm>
        </p:spPr>
        <p:txBody>
          <a:bodyPr/>
          <a:lstStyle>
            <a:lvl1pPr marL="0" indent="0" algn="ctr"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AA469-06A3-F942-B606-8D61A135385C}" type="datetimeFigureOut">
              <a:rPr lang="en-US" smtClean="0"/>
              <a:pPr/>
              <a:t>1/4/13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EB4F-E7F4-354A-B879-B5759143E9D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standardR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100" y="4572000"/>
            <a:ext cx="3733800" cy="152400"/>
          </a:xfrm>
          <a:prstGeom prst="rect">
            <a:avLst/>
          </a:prstGeom>
          <a:effectLst>
            <a:outerShdw blurRad="25400" sx="101000" sy="101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 descr="pictureStamp-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66660">
            <a:off x="5138374" y="599839"/>
            <a:ext cx="1610332" cy="2025115"/>
          </a:xfrm>
          <a:prstGeom prst="rect">
            <a:avLst/>
          </a:prstGeom>
        </p:spPr>
      </p:pic>
      <p:pic>
        <p:nvPicPr>
          <p:cNvPr id="11" name="Picture 10" descr="pictureStamp-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29776">
            <a:off x="2072772" y="555386"/>
            <a:ext cx="1610332" cy="2025115"/>
          </a:xfrm>
          <a:prstGeom prst="rect">
            <a:avLst/>
          </a:prstGeom>
        </p:spPr>
      </p:pic>
      <p:sp>
        <p:nvSpPr>
          <p:cNvPr id="12" name="Picture Placeholder 2"/>
          <p:cNvSpPr>
            <a:spLocks noGrp="1"/>
          </p:cNvSpPr>
          <p:nvPr>
            <p:ph type="pic" idx="14"/>
          </p:nvPr>
        </p:nvSpPr>
        <p:spPr>
          <a:xfrm rot="21254634">
            <a:off x="2256146" y="735839"/>
            <a:ext cx="1243584" cy="1664208"/>
          </a:xfrm>
          <a:solidFill>
            <a:srgbClr val="FFFFFF">
              <a:shade val="85000"/>
            </a:srgbClr>
          </a:solidFill>
          <a:ln w="114300" cap="sq">
            <a:noFill/>
            <a:miter lim="800000"/>
          </a:ln>
          <a:effectLst/>
          <a:scene3d>
            <a:camera prst="perspectiveRelaxed">
              <a:rot lat="0" lon="0" rev="0"/>
            </a:camera>
            <a:lightRig rig="twoPt" dir="t">
              <a:rot lat="0" lon="0" rev="7200000"/>
            </a:lightRig>
          </a:scene3d>
          <a:sp3d prstMaterial="matte">
            <a:contourClr>
              <a:srgbClr val="FFFFFF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3" name="Picture Placeholder 2"/>
          <p:cNvSpPr>
            <a:spLocks noGrp="1"/>
          </p:cNvSpPr>
          <p:nvPr>
            <p:ph type="pic" idx="15"/>
          </p:nvPr>
        </p:nvSpPr>
        <p:spPr>
          <a:xfrm rot="21315648">
            <a:off x="5321748" y="780292"/>
            <a:ext cx="1243584" cy="1664208"/>
          </a:xfrm>
          <a:solidFill>
            <a:srgbClr val="FFFFFF">
              <a:shade val="85000"/>
            </a:srgbClr>
          </a:solidFill>
          <a:ln w="114300" cap="sq">
            <a:noFill/>
            <a:miter lim="800000"/>
          </a:ln>
          <a:effectLst/>
          <a:scene3d>
            <a:camera prst="perspectiveRelaxed">
              <a:rot lat="0" lon="0" rev="0"/>
            </a:camera>
            <a:lightRig rig="twoPt" dir="t">
              <a:rot lat="0" lon="0" rev="7200000"/>
            </a:lightRig>
          </a:scene3d>
          <a:sp3d prstMaterial="matte">
            <a:contourClr>
              <a:srgbClr val="FFFFFF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pic>
        <p:nvPicPr>
          <p:cNvPr id="14" name="Picture 13" descr="pictureStamp-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1790">
            <a:off x="3591963" y="936015"/>
            <a:ext cx="1610332" cy="2025115"/>
          </a:xfrm>
          <a:prstGeom prst="rect">
            <a:avLst/>
          </a:prstGeom>
        </p:spPr>
      </p:pic>
      <p:sp>
        <p:nvSpPr>
          <p:cNvPr id="17" name="Picture Placeholder 2"/>
          <p:cNvSpPr>
            <a:spLocks noGrp="1"/>
          </p:cNvSpPr>
          <p:nvPr>
            <p:ph type="pic" idx="17"/>
          </p:nvPr>
        </p:nvSpPr>
        <p:spPr>
          <a:xfrm rot="100778">
            <a:off x="3775337" y="1116468"/>
            <a:ext cx="1243584" cy="1664208"/>
          </a:xfrm>
          <a:solidFill>
            <a:srgbClr val="FFFFFF">
              <a:shade val="85000"/>
            </a:srgbClr>
          </a:solidFill>
          <a:ln w="114300" cap="sq">
            <a:noFill/>
            <a:miter lim="800000"/>
          </a:ln>
          <a:effectLst/>
          <a:scene3d>
            <a:camera prst="perspectiveRelaxed">
              <a:rot lat="0" lon="0" rev="0"/>
            </a:camera>
            <a:lightRig rig="twoPt" dir="t">
              <a:rot lat="0" lon="0" rev="7200000"/>
            </a:lightRig>
          </a:scene3d>
          <a:sp3d prstMaterial="matte">
            <a:contourClr>
              <a:srgbClr val="FFFFFF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1282700"/>
            <a:ext cx="8001000" cy="19177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ctr">
              <a:defRPr sz="5600" b="0" cap="none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3644153"/>
            <a:ext cx="8001000" cy="833718"/>
          </a:xfrm>
        </p:spPr>
        <p:txBody>
          <a:bodyPr anchor="t" anchorCtr="0"/>
          <a:lstStyle>
            <a:lvl1pPr marL="0" indent="0" algn="ctr">
              <a:spcAft>
                <a:spcPts val="0"/>
              </a:spcAft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AA469-06A3-F942-B606-8D61A135385C}" type="datetimeFigureOut">
              <a:rPr lang="en-US" smtClean="0"/>
              <a:pPr/>
              <a:t>1/4/13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EB4F-E7F4-354A-B879-B5759143E9D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standard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0" y="3352800"/>
            <a:ext cx="3733800" cy="152400"/>
          </a:xfrm>
          <a:prstGeom prst="rect">
            <a:avLst/>
          </a:prstGeom>
          <a:effectLst>
            <a:outerShdw blurRad="25400" sx="101000" sy="101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74638"/>
            <a:ext cx="80010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936751"/>
            <a:ext cx="3749040" cy="4102100"/>
          </a:xfrm>
        </p:spPr>
        <p:txBody>
          <a:bodyPr>
            <a:normAutofit/>
          </a:bodyPr>
          <a:lstStyle>
            <a:lvl1pPr>
              <a:spcAft>
                <a:spcPts val="1600"/>
              </a:spcAft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800"/>
            </a:lvl6pPr>
            <a:lvl7pPr marL="2290763" indent="-461963">
              <a:defRPr sz="1800"/>
            </a:lvl7pPr>
            <a:lvl8pPr marL="2290763" indent="-461963">
              <a:defRPr sz="1800"/>
            </a:lvl8pPr>
            <a:lvl9pPr marL="2290763" indent="-461963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460" y="1936751"/>
            <a:ext cx="3749040" cy="4102100"/>
          </a:xfrm>
        </p:spPr>
        <p:txBody>
          <a:bodyPr>
            <a:normAutofit/>
          </a:bodyPr>
          <a:lstStyle>
            <a:lvl1pPr>
              <a:spcAft>
                <a:spcPts val="1600"/>
              </a:spcAft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800"/>
            </a:lvl6pPr>
            <a:lvl7pPr marL="2290763" indent="-461963">
              <a:defRPr sz="1800"/>
            </a:lvl7pPr>
            <a:lvl8pPr marL="2290763" indent="-461963">
              <a:defRPr sz="1800"/>
            </a:lvl8pPr>
            <a:lvl9pPr marL="2290763" indent="-461963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AA469-06A3-F942-B606-8D61A135385C}" type="datetimeFigureOut">
              <a:rPr lang="en-US" smtClean="0"/>
              <a:pPr/>
              <a:t>1/4/13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EB4F-E7F4-354A-B879-B5759143E9D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standard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0" y="1524000"/>
            <a:ext cx="3733800" cy="152400"/>
          </a:xfrm>
          <a:prstGeom prst="rect">
            <a:avLst/>
          </a:prstGeom>
          <a:effectLst>
            <a:outerShdw blurRad="25400" sx="101000" sy="101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74638"/>
            <a:ext cx="80010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1874838"/>
            <a:ext cx="3749040" cy="639762"/>
          </a:xfrm>
        </p:spPr>
        <p:txBody>
          <a:bodyPr anchor="ctr" anchorCtr="0">
            <a:noAutofit/>
          </a:bodyPr>
          <a:lstStyle>
            <a:lvl1pPr marL="0" indent="0" algn="ctr">
              <a:spcAft>
                <a:spcPts val="0"/>
              </a:spcAft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500" y="2590800"/>
            <a:ext cx="3749040" cy="3448050"/>
          </a:xfrm>
        </p:spPr>
        <p:txBody>
          <a:bodyPr>
            <a:normAutofit/>
          </a:bodyPr>
          <a:lstStyle>
            <a:lvl1pPr>
              <a:spcAft>
                <a:spcPts val="1400"/>
              </a:spcAft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800"/>
            </a:lvl6pPr>
            <a:lvl7pPr marL="2290763" indent="-461963">
              <a:defRPr sz="1800"/>
            </a:lvl7pPr>
            <a:lvl8pPr marL="2290763" indent="-461963">
              <a:defRPr sz="1800"/>
            </a:lvl8pPr>
            <a:lvl9pPr marL="2290763" indent="-461963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460" y="1874838"/>
            <a:ext cx="3749040" cy="639762"/>
          </a:xfrm>
        </p:spPr>
        <p:txBody>
          <a:bodyPr anchor="ctr" anchorCtr="0">
            <a:noAutofit/>
          </a:bodyPr>
          <a:lstStyle>
            <a:lvl1pPr marL="0" indent="0" algn="ctr">
              <a:spcAft>
                <a:spcPts val="0"/>
              </a:spcAft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3460" y="2590800"/>
            <a:ext cx="3749040" cy="3448050"/>
          </a:xfrm>
        </p:spPr>
        <p:txBody>
          <a:bodyPr>
            <a:normAutofit/>
          </a:bodyPr>
          <a:lstStyle>
            <a:lvl1pPr>
              <a:spcAft>
                <a:spcPts val="1400"/>
              </a:spcAft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1800"/>
            </a:lvl6pPr>
            <a:lvl7pPr marL="2290763" indent="-461963">
              <a:defRPr sz="1800"/>
            </a:lvl7pPr>
            <a:lvl8pPr marL="2290763" indent="-461963">
              <a:defRPr sz="1800"/>
            </a:lvl8pPr>
            <a:lvl9pPr marL="2290763" indent="-461963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AA469-06A3-F942-B606-8D61A135385C}" type="datetimeFigureOut">
              <a:rPr lang="en-US" smtClean="0"/>
              <a:pPr/>
              <a:t>1/4/13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EB4F-E7F4-354A-B879-B5759143E9D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 descr="standard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0" y="1524000"/>
            <a:ext cx="3733800" cy="152400"/>
          </a:xfrm>
          <a:prstGeom prst="rect">
            <a:avLst/>
          </a:prstGeom>
          <a:effectLst>
            <a:outerShdw blurRad="25400" sx="101000" sy="101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74638"/>
            <a:ext cx="80010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734C-E115-4BC5-9FB0-F9BF6FABFDA0}" type="datetimeFigureOut">
              <a:rPr lang="en-US" smtClean="0"/>
              <a:t>1/4/13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C4FB-7D33-419B-8833-D1372BFD11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AA469-06A3-F942-B606-8D61A135385C}" type="datetimeFigureOut">
              <a:rPr lang="en-US" smtClean="0"/>
              <a:pPr/>
              <a:t>1/4/13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EB4F-E7F4-354A-B879-B5759143E9D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153" y="443752"/>
            <a:ext cx="3749040" cy="1707777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7494" y="430306"/>
            <a:ext cx="3749040" cy="560854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 marL="2290763" indent="-461963">
              <a:defRPr sz="2000"/>
            </a:lvl6pPr>
            <a:lvl7pPr marL="2290763" indent="-461963">
              <a:defRPr sz="2000"/>
            </a:lvl7pPr>
            <a:lvl8pPr marL="2290763" indent="-461963">
              <a:defRPr sz="2000"/>
            </a:lvl8pPr>
            <a:lvl9pPr marL="2290763" indent="-461963"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6153" y="2554940"/>
            <a:ext cx="3749040" cy="3146613"/>
          </a:xfrm>
        </p:spPr>
        <p:txBody>
          <a:bodyPr>
            <a:normAutofit/>
          </a:bodyPr>
          <a:lstStyle>
            <a:lvl1pPr marL="0" indent="0" algn="ctr">
              <a:spcAft>
                <a:spcPts val="1000"/>
              </a:spcAft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AA469-06A3-F942-B606-8D61A135385C}" type="datetimeFigureOut">
              <a:rPr lang="en-US" smtClean="0"/>
              <a:pPr/>
              <a:t>1/4/13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EB4F-E7F4-354A-B879-B5759143E9D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short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898" y="2305609"/>
            <a:ext cx="2495550" cy="95250"/>
          </a:xfrm>
          <a:prstGeom prst="rect">
            <a:avLst/>
          </a:prstGeom>
          <a:effectLst>
            <a:outerShdw blurRad="25400" sx="101000" sy="101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434609"/>
            <a:ext cx="3749040" cy="17099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2551176"/>
            <a:ext cx="3749040" cy="31455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spcAft>
                <a:spcPts val="1000"/>
              </a:spcAft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0"/>
              </a:spcBef>
              <a:spcAft>
                <a:spcPts val="1800"/>
              </a:spcAft>
              <a:buFont typeface="Wingdings 2" pitchFamily="18" charset="2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AA469-06A3-F942-B606-8D61A135385C}" type="datetimeFigureOut">
              <a:rPr lang="en-US" smtClean="0"/>
              <a:pPr/>
              <a:t>1/4/13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EB4F-E7F4-354A-B879-B5759143E9D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short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898" y="2305609"/>
            <a:ext cx="2495550" cy="95250"/>
          </a:xfrm>
          <a:prstGeom prst="rect">
            <a:avLst/>
          </a:prstGeom>
          <a:effectLst>
            <a:outerShdw blurRad="25400" sx="101000" sy="101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parAv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8222">
            <a:off x="6798020" y="538594"/>
            <a:ext cx="1808485" cy="516710"/>
          </a:xfrm>
          <a:prstGeom prst="rect">
            <a:avLst/>
          </a:prstGeom>
        </p:spPr>
      </p:pic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150174">
            <a:off x="4827538" y="836203"/>
            <a:ext cx="3657600" cy="4937760"/>
          </a:xfrm>
          <a:solidFill>
            <a:srgbClr val="FFFFFF">
              <a:shade val="85000"/>
            </a:srgbClr>
          </a:solidFill>
          <a:ln w="31750" cap="sq">
            <a:solidFill>
              <a:srgbClr val="FDFDFD"/>
            </a:solidFill>
            <a:miter lim="800000"/>
          </a:ln>
          <a:effectLst>
            <a:outerShdw blurRad="88900" dist="4445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itlePage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924825"/>
            <a:ext cx="8001000" cy="17099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" y="4800600"/>
            <a:ext cx="8001000" cy="12192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Aft>
                <a:spcPts val="300"/>
              </a:spcAft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0"/>
              </a:spcBef>
              <a:spcAft>
                <a:spcPts val="1800"/>
              </a:spcAft>
              <a:buFont typeface="Wingdings 2" pitchFamily="18" charset="2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AA469-06A3-F942-B606-8D61A135385C}" type="datetimeFigureOut">
              <a:rPr lang="en-US" smtClean="0"/>
              <a:pPr/>
              <a:t>1/4/13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EB4F-E7F4-354A-B879-B5759143E9D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shortR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225" y="4666129"/>
            <a:ext cx="2495550" cy="95250"/>
          </a:xfrm>
          <a:prstGeom prst="rect">
            <a:avLst/>
          </a:prstGeom>
          <a:effectLst>
            <a:outerShdw blurRad="25400" sx="101000" sy="101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1355093">
            <a:off x="2359666" y="458370"/>
            <a:ext cx="4424669" cy="3079124"/>
          </a:xfrm>
          <a:solidFill>
            <a:srgbClr val="FFFFFF">
              <a:shade val="85000"/>
            </a:srgbClr>
          </a:solidFill>
          <a:ln w="31750" cap="sq">
            <a:solidFill>
              <a:srgbClr val="FDFDFD"/>
            </a:solidFill>
            <a:miter lim="800000"/>
          </a:ln>
          <a:effectLst>
            <a:outerShdw blurRad="88900" dist="44450" dir="90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2 Pictures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itlePage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1" name="Picture 10" descr="parAv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8222">
            <a:off x="6835967" y="278688"/>
            <a:ext cx="1695954" cy="4845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924825"/>
            <a:ext cx="8001000" cy="17099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" y="4800600"/>
            <a:ext cx="8001000" cy="12192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Aft>
                <a:spcPts val="300"/>
              </a:spcAft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0"/>
              </a:spcBef>
              <a:spcAft>
                <a:spcPts val="1800"/>
              </a:spcAft>
              <a:buFont typeface="Wingdings 2" pitchFamily="18" charset="2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AA469-06A3-F942-B606-8D61A135385C}" type="datetimeFigureOut">
              <a:rPr lang="en-US" smtClean="0"/>
              <a:pPr/>
              <a:t>1/4/13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EB4F-E7F4-354A-B879-B5759143E9D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shortR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225" y="4666129"/>
            <a:ext cx="2495550" cy="95250"/>
          </a:xfrm>
          <a:prstGeom prst="rect">
            <a:avLst/>
          </a:prstGeom>
          <a:effectLst>
            <a:outerShdw blurRad="25400" sx="101000" sy="101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 descr="parAv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85255">
            <a:off x="2866028" y="3182426"/>
            <a:ext cx="1695954" cy="484558"/>
          </a:xfrm>
          <a:prstGeom prst="rect">
            <a:avLst/>
          </a:prstGeom>
        </p:spPr>
      </p:pic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 rot="150321">
            <a:off x="4329929" y="546774"/>
            <a:ext cx="4163077" cy="2961146"/>
          </a:xfrm>
          <a:solidFill>
            <a:srgbClr val="FFFFFF">
              <a:shade val="85000"/>
            </a:srgbClr>
          </a:solidFill>
          <a:ln w="31750" cap="sq">
            <a:solidFill>
              <a:srgbClr val="FDFDFD"/>
            </a:solidFill>
            <a:miter lim="800000"/>
          </a:ln>
          <a:effectLst>
            <a:outerShdw blurRad="88900" dist="31750" dir="90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  <p:txBody>
          <a:bodyPr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1380673">
            <a:off x="699762" y="451178"/>
            <a:ext cx="4163077" cy="2961146"/>
          </a:xfrm>
          <a:solidFill>
            <a:srgbClr val="FFFFFF">
              <a:shade val="85000"/>
            </a:srgbClr>
          </a:solidFill>
          <a:ln w="31750" cap="sq">
            <a:solidFill>
              <a:srgbClr val="FDFDFD"/>
            </a:solidFill>
            <a:miter lim="800000"/>
          </a:ln>
          <a:effectLst>
            <a:outerShdw blurRad="88900" dist="44450" dir="900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itlePage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3480" y="4800600"/>
            <a:ext cx="3246120" cy="1188720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ctr">
              <a:spcAft>
                <a:spcPts val="300"/>
              </a:spcAft>
              <a:buNone/>
              <a:defRPr sz="2000">
                <a:solidFill>
                  <a:schemeClr val="tx1"/>
                </a:solidFill>
                <a:latin typeface="Mistral" pitchFamily="66" charset="0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0"/>
              </a:spcBef>
              <a:spcAft>
                <a:spcPts val="1800"/>
              </a:spcAft>
              <a:buFont typeface="Wingdings 2" pitchFamily="18" charset="2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AA469-06A3-F942-B606-8D61A135385C}" type="datetimeFigureOut">
              <a:rPr lang="en-US" smtClean="0"/>
              <a:pPr/>
              <a:t>1/4/13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EB4F-E7F4-354A-B879-B5759143E9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 rot="253865">
            <a:off x="4415567" y="369110"/>
            <a:ext cx="3794703" cy="2729767"/>
          </a:xfrm>
          <a:solidFill>
            <a:srgbClr val="FFFFFF">
              <a:shade val="85000"/>
            </a:srgbClr>
          </a:solidFill>
          <a:ln w="31750" cap="sq">
            <a:solidFill>
              <a:srgbClr val="FDFDFD"/>
            </a:solidFill>
            <a:miter lim="800000"/>
          </a:ln>
          <a:effectLst>
            <a:outerShdw blurRad="88900" dist="44450" dir="600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  <p:txBody>
          <a:bodyPr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0973137">
            <a:off x="530124" y="631160"/>
            <a:ext cx="3837559" cy="2604282"/>
          </a:xfrm>
          <a:solidFill>
            <a:srgbClr val="FFFFFF">
              <a:shade val="85000"/>
            </a:srgbClr>
          </a:solidFill>
          <a:ln w="31750" cap="sq">
            <a:solidFill>
              <a:srgbClr val="FDFDFD"/>
            </a:solidFill>
            <a:miter lim="800000"/>
          </a:ln>
          <a:effectLst>
            <a:outerShdw blurRad="88900" dist="44450" dir="90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 rot="470783">
            <a:off x="708565" y="3070624"/>
            <a:ext cx="3918749" cy="2827517"/>
          </a:xfrm>
          <a:solidFill>
            <a:srgbClr val="FFFFFF">
              <a:shade val="85000"/>
            </a:srgbClr>
          </a:solidFill>
          <a:ln w="31750" cap="sq">
            <a:solidFill>
              <a:srgbClr val="FDFDFD"/>
            </a:solidFill>
            <a:miter lim="800000"/>
          </a:ln>
          <a:effectLst>
            <a:outerShdw blurRad="88900" dist="44450" dir="1140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  <p:txBody>
          <a:bodyPr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 rot="21240000">
            <a:off x="4717562" y="3396154"/>
            <a:ext cx="3474720" cy="1097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spcAft>
                <a:spcPts val="300"/>
              </a:spcAft>
              <a:buNone/>
              <a:defRPr sz="2800" kern="1200">
                <a:solidFill>
                  <a:schemeClr val="tx1"/>
                </a:solidFill>
                <a:latin typeface="Mistral" pitchFamily="66" charset="0"/>
                <a:ea typeface="+mn-ea"/>
                <a:cs typeface="+mn-cs"/>
              </a:defRPr>
            </a:lvl1pPr>
          </a:lstStyle>
          <a:p>
            <a:pPr marL="0" lvl="0" indent="0" algn="ctr" defTabSz="914400" rtl="0" eaLnBrk="1" latinLnBrk="0" hangingPunct="1">
              <a:spcBef>
                <a:spcPts val="0"/>
              </a:spcBef>
              <a:spcAft>
                <a:spcPts val="1800"/>
              </a:spcAft>
              <a:buFont typeface="Wingdings 2" pitchFamily="18" charset="2"/>
              <a:buNone/>
            </a:pPr>
            <a:r>
              <a:rPr lang="en-US" smtClean="0"/>
              <a:t>Click to edit Master title style</a:t>
            </a:r>
            <a:endParaRPr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itlePage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0" y="4876800"/>
            <a:ext cx="3048000" cy="118872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Aft>
                <a:spcPts val="300"/>
              </a:spcAft>
              <a:buNone/>
              <a:defRPr sz="2000" kern="1200">
                <a:solidFill>
                  <a:schemeClr val="tx1"/>
                </a:solidFill>
                <a:latin typeface="Mistral" pitchFamily="66" charset="0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ctr" defTabSz="914400" rtl="0" eaLnBrk="1" latinLnBrk="0" hangingPunct="1">
              <a:spcBef>
                <a:spcPts val="0"/>
              </a:spcBef>
              <a:spcAft>
                <a:spcPts val="1800"/>
              </a:spcAft>
              <a:buFont typeface="Wingdings 2" pitchFamily="18" charset="2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AA469-06A3-F942-B606-8D61A135385C}" type="datetimeFigureOut">
              <a:rPr lang="en-US" smtClean="0"/>
              <a:pPr/>
              <a:t>1/4/13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EB4F-E7F4-354A-B879-B5759143E9D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Picture 14" descr="parAv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8222">
            <a:off x="7428515" y="2619243"/>
            <a:ext cx="1580737" cy="451639"/>
          </a:xfrm>
          <a:prstGeom prst="rect">
            <a:avLst/>
          </a:prstGeom>
        </p:spPr>
      </p:pic>
      <p:pic>
        <p:nvPicPr>
          <p:cNvPr id="11" name="Picture 10" descr="pictureStamp-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22260">
            <a:off x="6339646" y="604321"/>
            <a:ext cx="1610332" cy="2025115"/>
          </a:xfrm>
          <a:prstGeom prst="rect">
            <a:avLst/>
          </a:prstGeom>
        </p:spPr>
      </p:pic>
      <p:pic>
        <p:nvPicPr>
          <p:cNvPr id="13" name="Picture 12" descr="pictureStamp-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22260">
            <a:off x="4891846" y="985321"/>
            <a:ext cx="1610332" cy="2025115"/>
          </a:xfrm>
          <a:prstGeom prst="rect">
            <a:avLst/>
          </a:prstGeom>
        </p:spPr>
      </p:pic>
      <p:sp>
        <p:nvSpPr>
          <p:cNvPr id="16" name="Picture Placeholder 2"/>
          <p:cNvSpPr>
            <a:spLocks noGrp="1"/>
          </p:cNvSpPr>
          <p:nvPr>
            <p:ph type="pic" idx="14"/>
          </p:nvPr>
        </p:nvSpPr>
        <p:spPr>
          <a:xfrm rot="247118">
            <a:off x="5075220" y="1165774"/>
            <a:ext cx="1243584" cy="1664208"/>
          </a:xfrm>
          <a:solidFill>
            <a:srgbClr val="FFFFFF">
              <a:shade val="85000"/>
            </a:srgbClr>
          </a:solidFill>
          <a:ln w="114300" cap="sq">
            <a:noFill/>
            <a:miter lim="800000"/>
          </a:ln>
          <a:effectLst/>
          <a:scene3d>
            <a:camera prst="perspectiveRelaxed">
              <a:rot lat="0" lon="0" rev="0"/>
            </a:camera>
            <a:lightRig rig="twoPt" dir="t">
              <a:rot lat="0" lon="0" rev="7200000"/>
            </a:lightRig>
          </a:scene3d>
          <a:sp3d prstMaterial="matte">
            <a:contourClr>
              <a:srgbClr val="FFFFFF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7" name="Picture Placeholder 2"/>
          <p:cNvSpPr>
            <a:spLocks noGrp="1"/>
          </p:cNvSpPr>
          <p:nvPr>
            <p:ph type="pic" idx="15"/>
          </p:nvPr>
        </p:nvSpPr>
        <p:spPr>
          <a:xfrm rot="271248">
            <a:off x="6523020" y="784774"/>
            <a:ext cx="1243584" cy="1664208"/>
          </a:xfrm>
          <a:solidFill>
            <a:srgbClr val="FFFFFF">
              <a:shade val="85000"/>
            </a:srgbClr>
          </a:solidFill>
          <a:ln w="114300" cap="sq">
            <a:noFill/>
            <a:miter lim="800000"/>
          </a:ln>
          <a:effectLst/>
          <a:scene3d>
            <a:camera prst="perspectiveRelaxed">
              <a:rot lat="0" lon="0" rev="0"/>
            </a:camera>
            <a:lightRig rig="twoPt" dir="t">
              <a:rot lat="0" lon="0" rev="7200000"/>
            </a:lightRig>
          </a:scene3d>
          <a:sp3d prstMaterial="matte">
            <a:contourClr>
              <a:srgbClr val="FFFFFF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 rot="253865">
            <a:off x="4519045" y="2873698"/>
            <a:ext cx="3931920" cy="2834640"/>
          </a:xfrm>
          <a:solidFill>
            <a:srgbClr val="FFFFFF">
              <a:shade val="85000"/>
            </a:srgbClr>
          </a:solidFill>
          <a:ln w="31750" cap="sq">
            <a:solidFill>
              <a:srgbClr val="FDFDFD"/>
            </a:solidFill>
            <a:miter lim="800000"/>
          </a:ln>
          <a:effectLst>
            <a:outerShdw blurRad="88900" dist="44450" dir="690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  <p:txBody>
          <a:bodyPr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1193488">
            <a:off x="610678" y="450635"/>
            <a:ext cx="3931920" cy="2834640"/>
          </a:xfrm>
          <a:solidFill>
            <a:srgbClr val="FFFFFF">
              <a:shade val="85000"/>
            </a:srgbClr>
          </a:solidFill>
          <a:ln w="31750" cap="sq">
            <a:solidFill>
              <a:srgbClr val="FDFDFD"/>
            </a:solidFill>
            <a:miter lim="800000"/>
          </a:ln>
          <a:effectLst>
            <a:outerShdw blurRad="88900" dist="44450" dir="90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 rot="21240000">
            <a:off x="455724" y="3551615"/>
            <a:ext cx="3474720" cy="1097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spcAft>
                <a:spcPts val="300"/>
              </a:spcAft>
              <a:buNone/>
              <a:defRPr sz="2800" kern="1200">
                <a:solidFill>
                  <a:schemeClr val="tx1"/>
                </a:solidFill>
                <a:latin typeface="Mistral" pitchFamily="66" charset="0"/>
                <a:ea typeface="+mn-ea"/>
                <a:cs typeface="+mn-cs"/>
              </a:defRPr>
            </a:lvl1pPr>
          </a:lstStyle>
          <a:p>
            <a:pPr marL="0" lvl="0" indent="0" algn="ctr" defTabSz="914400" rtl="0" eaLnBrk="1" latinLnBrk="0" hangingPunct="1">
              <a:spcBef>
                <a:spcPts val="0"/>
              </a:spcBef>
              <a:spcAft>
                <a:spcPts val="1800"/>
              </a:spcAft>
              <a:buFont typeface="Wingdings 2" pitchFamily="18" charset="2"/>
              <a:buNone/>
            </a:pPr>
            <a:r>
              <a:rPr lang="en-US" smtClean="0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74638"/>
            <a:ext cx="80010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2286000" indent="-457200">
              <a:defRPr/>
            </a:lvl6pPr>
            <a:lvl7pPr marL="2286000" indent="-457200">
              <a:defRPr/>
            </a:lvl7pPr>
            <a:lvl8pPr marL="2286000" indent="-457200">
              <a:defRPr/>
            </a:lvl8pPr>
            <a:lvl9pPr marL="2286000" indent="-457200"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AA469-06A3-F942-B606-8D61A135385C}" type="datetimeFigureOut">
              <a:rPr lang="en-US" smtClean="0"/>
              <a:pPr/>
              <a:t>1/4/13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EB4F-E7F4-354A-B879-B5759143E9D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standard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0" y="1524000"/>
            <a:ext cx="3733800" cy="152400"/>
          </a:xfrm>
          <a:prstGeom prst="rect">
            <a:avLst/>
          </a:prstGeom>
          <a:effectLst>
            <a:outerShdw blurRad="25400" sx="101000" sy="101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6634" y="577849"/>
            <a:ext cx="1882589" cy="5461001"/>
          </a:xfrm>
          <a:prstGeom prst="rect">
            <a:avLst/>
          </a:prstGeom>
        </p:spPr>
        <p:txBody>
          <a:bodyPr vert="eaVert"/>
          <a:lstStyle>
            <a:lvl1pPr>
              <a:defRPr sz="4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224" y="577849"/>
            <a:ext cx="5768788" cy="5461001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AA469-06A3-F942-B606-8D61A135385C}" type="datetimeFigureOut">
              <a:rPr lang="en-US" smtClean="0"/>
              <a:pPr/>
              <a:t>1/4/13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EB4F-E7F4-354A-B879-B5759143E9D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vertical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859" y="1562100"/>
            <a:ext cx="152400" cy="3733800"/>
          </a:xfrm>
          <a:prstGeom prst="rect">
            <a:avLst/>
          </a:prstGeom>
          <a:effectLst>
            <a:outerShdw blurRad="25400" sx="101000" sy="101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r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itlePage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extPageOverlay.png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1500" y="6158753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1905000"/>
            <a:ext cx="80010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72100" y="6158753"/>
            <a:ext cx="320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A4A6734C-E115-4BC5-9FB0-F9BF6FABFDA0}" type="datetimeFigureOut">
              <a:rPr lang="en-US" smtClean="0"/>
              <a:t>1/4/13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46220" y="6158753"/>
            <a:ext cx="1051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fld id="{D739C4FB-7D33-419B-8833-D1372BFD11C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667" r:id="rId18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spcBef>
          <a:spcPts val="0"/>
        </a:spcBef>
        <a:spcAft>
          <a:spcPts val="2000"/>
        </a:spcAft>
        <a:buFont typeface="Wingdings 2" pitchFamily="18" charset="2"/>
        <a:buChar char="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0"/>
        </a:spcBef>
        <a:spcAft>
          <a:spcPts val="1000"/>
        </a:spcAft>
        <a:buClr>
          <a:schemeClr val="bg2"/>
        </a:buClr>
        <a:buFont typeface="Wingdings 2" pitchFamily="18" charset="2"/>
        <a:buChar char="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457200" algn="l" defTabSz="914400" rtl="0" eaLnBrk="1" latinLnBrk="0" hangingPunct="1">
        <a:spcBef>
          <a:spcPts val="0"/>
        </a:spcBef>
        <a:spcAft>
          <a:spcPts val="1000"/>
        </a:spcAft>
        <a:buFont typeface="Wingdings 2" pitchFamily="18" charset="2"/>
        <a:buChar char="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indent="-457200" algn="l" defTabSz="914400" rtl="0" eaLnBrk="1" latinLnBrk="0" hangingPunct="1">
        <a:spcBef>
          <a:spcPts val="0"/>
        </a:spcBef>
        <a:spcAft>
          <a:spcPts val="1000"/>
        </a:spcAft>
        <a:buClr>
          <a:schemeClr val="bg2"/>
        </a:buClr>
        <a:buFont typeface="Wingdings 2" pitchFamily="18" charset="2"/>
        <a:buChar char="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indent="-457200" algn="l" defTabSz="914400" rtl="0" eaLnBrk="1" latinLnBrk="0" hangingPunct="1">
        <a:spcBef>
          <a:spcPts val="0"/>
        </a:spcBef>
        <a:spcAft>
          <a:spcPts val="1000"/>
        </a:spcAft>
        <a:buFont typeface="Wingdings 2" pitchFamily="18" charset="2"/>
        <a:buChar char="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indent="-461963" algn="l" defTabSz="914400" rtl="0" eaLnBrk="1" latinLnBrk="0" hangingPunct="1">
        <a:spcBef>
          <a:spcPts val="0"/>
        </a:spcBef>
        <a:spcAft>
          <a:spcPts val="600"/>
        </a:spcAft>
        <a:buClr>
          <a:schemeClr val="bg2"/>
        </a:buClr>
        <a:buFont typeface="Wingdings 2" pitchFamily="18" charset="2"/>
        <a:buChar char="ò"/>
        <a:defRPr 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3205163" indent="-461963" algn="l" defTabSz="914400" rtl="0" eaLnBrk="1" latinLnBrk="0" hangingPunct="1">
        <a:spcBef>
          <a:spcPts val="0"/>
        </a:spcBef>
        <a:spcAft>
          <a:spcPts val="600"/>
        </a:spcAft>
        <a:buFont typeface="Wingdings 2" pitchFamily="18" charset="2"/>
        <a:buChar char="ò"/>
        <a:defRPr 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3657600" indent="-461963" algn="l" defTabSz="914400" rtl="0" eaLnBrk="1" latinLnBrk="0" hangingPunct="1">
        <a:spcBef>
          <a:spcPts val="0"/>
        </a:spcBef>
        <a:spcAft>
          <a:spcPts val="600"/>
        </a:spcAft>
        <a:buClr>
          <a:schemeClr val="bg2"/>
        </a:buClr>
        <a:buFont typeface="Wingdings 2" pitchFamily="18" charset="2"/>
        <a:buChar char="ò"/>
        <a:defRPr 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4119563" indent="-461963" algn="l" defTabSz="914400" rtl="0" eaLnBrk="1" latinLnBrk="0" hangingPunct="1">
        <a:spcBef>
          <a:spcPts val="0"/>
        </a:spcBef>
        <a:spcAft>
          <a:spcPts val="600"/>
        </a:spcAft>
        <a:buFont typeface="Wingdings 2" pitchFamily="18" charset="2"/>
        <a:buChar char="ò"/>
        <a:defRPr 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gif"/><Relationship Id="rId3" Type="http://schemas.openxmlformats.org/officeDocument/2006/relationships/image" Target="../media/image1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hyperlink" Target="http://en.wikipedia.org/wiki/Tamil_Nadu" TargetMode="External"/><Relationship Id="rId20" Type="http://schemas.openxmlformats.org/officeDocument/2006/relationships/hyperlink" Target="http://en.wikipedia.org/wiki/PFBR" TargetMode="External"/><Relationship Id="rId10" Type="http://schemas.openxmlformats.org/officeDocument/2006/relationships/hyperlink" Target="http://en.wikipedia.org/wiki/Narora_Atomic_Power_Station" TargetMode="External"/><Relationship Id="rId11" Type="http://schemas.openxmlformats.org/officeDocument/2006/relationships/hyperlink" Target="http://en.wikipedia.org/wiki/Uttar_Pradesh" TargetMode="External"/><Relationship Id="rId12" Type="http://schemas.openxmlformats.org/officeDocument/2006/relationships/hyperlink" Target="http://en.wikipedia.org/wiki/Rajasthan_Atomic_Power_Station" TargetMode="External"/><Relationship Id="rId13" Type="http://schemas.openxmlformats.org/officeDocument/2006/relationships/hyperlink" Target="http://en.wikipedia.org/wiki/Rajasthan" TargetMode="External"/><Relationship Id="rId14" Type="http://schemas.openxmlformats.org/officeDocument/2006/relationships/hyperlink" Target="http://en.wikipedia.org/wiki/Tarapur_Atomic_Power_Station" TargetMode="External"/><Relationship Id="rId15" Type="http://schemas.openxmlformats.org/officeDocument/2006/relationships/hyperlink" Target="http://en.wikipedia.org/wiki/Maharashtra" TargetMode="External"/><Relationship Id="rId16" Type="http://schemas.openxmlformats.org/officeDocument/2006/relationships/hyperlink" Target="http://en.wikipedia.org/wiki/Boiling_water_reactor" TargetMode="External"/><Relationship Id="rId17" Type="http://schemas.openxmlformats.org/officeDocument/2006/relationships/hyperlink" Target="http://en.wikipedia.org/wiki/Kudankulam_Nuclear_Power_Plant" TargetMode="External"/><Relationship Id="rId18" Type="http://schemas.openxmlformats.org/officeDocument/2006/relationships/hyperlink" Target="http://en.wikipedia.org/wiki/VVER" TargetMode="External"/><Relationship Id="rId19" Type="http://schemas.openxmlformats.org/officeDocument/2006/relationships/hyperlink" Target="http://en.wikipedia.org/w/index.php?title=Bharatiya_Nabhikiya_Vidyut_Nigam_Limited&amp;action=edit&amp;redlink=1" TargetMode="External"/><Relationship Id="rId1" Type="http://schemas.openxmlformats.org/officeDocument/2006/relationships/slideLayout" Target="../slideLayouts/slideLayout8.xml"/><Relationship Id="rId2" Type="http://schemas.openxmlformats.org/officeDocument/2006/relationships/hyperlink" Target="http://en.wikipedia.org/wiki/Kaiga_Atomic_Power_Station" TargetMode="External"/><Relationship Id="rId3" Type="http://schemas.openxmlformats.org/officeDocument/2006/relationships/hyperlink" Target="http://en.wikipedia.org/wiki/Nuclear_Power_Corporation_of_India" TargetMode="External"/><Relationship Id="rId4" Type="http://schemas.openxmlformats.org/officeDocument/2006/relationships/hyperlink" Target="http://en.wikipedia.org/wiki/Karnataka" TargetMode="External"/><Relationship Id="rId5" Type="http://schemas.openxmlformats.org/officeDocument/2006/relationships/hyperlink" Target="http://en.wikipedia.org/wiki/CANDU" TargetMode="External"/><Relationship Id="rId6" Type="http://schemas.openxmlformats.org/officeDocument/2006/relationships/hyperlink" Target="http://en.wikipedia.org/wiki/Kakrapar_Atomic_Power_Station" TargetMode="External"/><Relationship Id="rId7" Type="http://schemas.openxmlformats.org/officeDocument/2006/relationships/hyperlink" Target="http://en.wikipedia.org/wiki/Gujarat" TargetMode="External"/><Relationship Id="rId8" Type="http://schemas.openxmlformats.org/officeDocument/2006/relationships/hyperlink" Target="http://en.wikipedia.org/wiki/Madras_Atomic_Power_Station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://en.wikipedia.org/wiki/Low_enriched_uranium" TargetMode="External"/><Relationship Id="rId3" Type="http://schemas.openxmlformats.org/officeDocument/2006/relationships/hyperlink" Target="http://en.wikipedia.org/wiki/Uranium_dioxide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/>
          </p:cNvSpPr>
          <p:nvPr/>
        </p:nvSpPr>
        <p:spPr>
          <a:xfrm>
            <a:off x="685800" y="1976735"/>
            <a:ext cx="7792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KUDANKULAM   </a:t>
            </a:r>
            <a:r>
              <a:rPr lang="en-US" sz="2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NUCLEAR  POWER  PLANT</a:t>
            </a:r>
            <a:endParaRPr lang="en-US" sz="24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5" name="Picture 4" descr="in-lgflag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5410200"/>
            <a:ext cx="1447800" cy="966263"/>
          </a:xfrm>
          <a:prstGeom prst="rect">
            <a:avLst/>
          </a:prstGeom>
        </p:spPr>
      </p:pic>
      <p:pic>
        <p:nvPicPr>
          <p:cNvPr id="6" name="Picture 5" descr="20ss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53345">
            <a:off x="992664" y="3063486"/>
            <a:ext cx="3559409" cy="247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3669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Koodankulam Power plant.JPG"/>
          <p:cNvPicPr>
            <a:picLocks noChangeAspect="1"/>
          </p:cNvPicPr>
          <p:nvPr/>
        </p:nvPicPr>
        <p:blipFill>
          <a:blip r:embed="rId2">
            <a:lum bright="-40000" contrast="6000"/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81000"/>
            <a:ext cx="508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BF9F3"/>
                </a:solidFill>
              </a:rPr>
              <a:t>KUDANKULAM NUCLEAR POWER PLANT</a:t>
            </a:r>
            <a:endParaRPr lang="en-US" b="1" dirty="0">
              <a:solidFill>
                <a:srgbClr val="FBF9F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554069"/>
            <a:ext cx="7571303" cy="17543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FFFF"/>
                </a:solidFill>
              </a:rPr>
              <a:t>Located on the coast of the Gulf of </a:t>
            </a:r>
            <a:r>
              <a:rPr lang="en-US" dirty="0" err="1" smtClean="0">
                <a:solidFill>
                  <a:srgbClr val="FFFFFF"/>
                </a:solidFill>
              </a:rPr>
              <a:t>Mannar</a:t>
            </a:r>
            <a:r>
              <a:rPr lang="en-US" dirty="0" smtClean="0">
                <a:solidFill>
                  <a:srgbClr val="FFFFFF"/>
                </a:solidFill>
              </a:rPr>
              <a:t>, at 25 KM to the north-east from</a:t>
            </a:r>
          </a:p>
          <a:p>
            <a:r>
              <a:rPr lang="en-US" dirty="0" err="1" smtClean="0">
                <a:solidFill>
                  <a:srgbClr val="FFFFFF"/>
                </a:solidFill>
              </a:rPr>
              <a:t>Kanyakumari</a:t>
            </a:r>
            <a:r>
              <a:rPr lang="en-US" dirty="0" smtClean="0">
                <a:solidFill>
                  <a:srgbClr val="FFFFFF"/>
                </a:solidFill>
              </a:rPr>
              <a:t>, </a:t>
            </a:r>
            <a:r>
              <a:rPr lang="en-US" dirty="0" err="1" smtClean="0">
                <a:solidFill>
                  <a:srgbClr val="FFFFFF"/>
                </a:solidFill>
              </a:rPr>
              <a:t>inTamil</a:t>
            </a:r>
            <a:r>
              <a:rPr lang="en-US" dirty="0" smtClean="0">
                <a:solidFill>
                  <a:srgbClr val="FFFFFF"/>
                </a:solidFill>
              </a:rPr>
              <a:t> Nadu State.</a:t>
            </a:r>
          </a:p>
          <a:p>
            <a:endParaRPr lang="en-US" dirty="0" smtClean="0">
              <a:solidFill>
                <a:srgbClr val="FFFFFF"/>
              </a:solidFill>
            </a:endParaRPr>
          </a:p>
          <a:p>
            <a:endParaRPr lang="en-US" dirty="0" smtClean="0">
              <a:solidFill>
                <a:srgbClr val="FFFFFF"/>
              </a:solidFill>
            </a:endParaRPr>
          </a:p>
          <a:p>
            <a:r>
              <a:rPr lang="en-US" dirty="0" smtClean="0">
                <a:solidFill>
                  <a:srgbClr val="FFFFFF"/>
                </a:solidFill>
              </a:rPr>
              <a:t>In Kudankulam we use world’s most advanced VVER-1000 reactors designed by</a:t>
            </a:r>
          </a:p>
          <a:p>
            <a:r>
              <a:rPr lang="en-US" dirty="0" smtClean="0">
                <a:solidFill>
                  <a:srgbClr val="FFFFFF"/>
                </a:solidFill>
              </a:rPr>
              <a:t> Russians </a:t>
            </a:r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228600"/>
            <a:ext cx="29938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Nuclear Power Plants in India</a:t>
            </a:r>
          </a:p>
          <a:p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52400" y="609600"/>
            <a:ext cx="8839200" cy="6186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2713" algn="just">
              <a:tabLst>
                <a:tab pos="1717675" algn="l"/>
              </a:tabLst>
            </a:pPr>
            <a:r>
              <a:rPr lang="en-US" dirty="0"/>
              <a:t>Power station      </a:t>
            </a:r>
            <a:r>
              <a:rPr lang="en-US" dirty="0" smtClean="0"/>
              <a:t>Operator           State           Type           </a:t>
            </a:r>
            <a:r>
              <a:rPr lang="en-US" dirty="0"/>
              <a:t>Units </a:t>
            </a:r>
            <a:r>
              <a:rPr lang="en-US" dirty="0" smtClean="0"/>
              <a:t>       Total capacity(</a:t>
            </a:r>
            <a:r>
              <a:rPr lang="en-US" dirty="0"/>
              <a:t>MW</a:t>
            </a:r>
            <a:r>
              <a:rPr lang="en-US" dirty="0" smtClean="0"/>
              <a:t>)</a:t>
            </a:r>
            <a:endParaRPr lang="en-US" dirty="0"/>
          </a:p>
          <a:p>
            <a:pPr algn="just"/>
            <a:r>
              <a:rPr lang="en-US" dirty="0">
                <a:hlinkClick r:id="rId2" tooltip="Kaiga Atomic Power Station"/>
              </a:rPr>
              <a:t>Kaiga</a:t>
            </a:r>
            <a:r>
              <a:rPr lang="en-US" dirty="0"/>
              <a:t>                 </a:t>
            </a:r>
            <a:r>
              <a:rPr lang="en-US" dirty="0" smtClean="0"/>
              <a:t>    </a:t>
            </a:r>
            <a:r>
              <a:rPr lang="en-US" dirty="0">
                <a:hlinkClick r:id="rId3" tooltip="Nuclear Power Corporation of India"/>
              </a:rPr>
              <a:t>NPCIL</a:t>
            </a:r>
            <a:r>
              <a:rPr lang="en-US" dirty="0"/>
              <a:t>       </a:t>
            </a:r>
            <a:r>
              <a:rPr lang="en-US" dirty="0" smtClean="0">
                <a:hlinkClick r:id="rId4" tooltip="Karnataka"/>
              </a:rPr>
              <a:t>Karnataka</a:t>
            </a:r>
            <a:r>
              <a:rPr lang="en-US" dirty="0" smtClean="0"/>
              <a:t>     </a:t>
            </a:r>
            <a:r>
              <a:rPr lang="en-US" dirty="0">
                <a:hlinkClick r:id="rId5" tooltip="CANDU"/>
              </a:rPr>
              <a:t>PHWR</a:t>
            </a:r>
            <a:r>
              <a:rPr lang="en-US" dirty="0"/>
              <a:t>        </a:t>
            </a:r>
            <a:r>
              <a:rPr lang="en-US" dirty="0" smtClean="0"/>
              <a:t> </a:t>
            </a:r>
            <a:r>
              <a:rPr lang="en-US" dirty="0"/>
              <a:t>220 x 4           </a:t>
            </a:r>
            <a:r>
              <a:rPr lang="en-US" dirty="0" smtClean="0"/>
              <a:t>		  </a:t>
            </a:r>
            <a:r>
              <a:rPr lang="en-US" dirty="0"/>
              <a:t>880</a:t>
            </a:r>
          </a:p>
          <a:p>
            <a:pPr algn="just"/>
            <a:r>
              <a:rPr lang="en-US" dirty="0" smtClean="0">
                <a:hlinkClick r:id="rId6" tooltip="Kakrapar Atomic Power Station"/>
              </a:rPr>
              <a:t>Kakrapar</a:t>
            </a:r>
            <a:r>
              <a:rPr lang="en-US" dirty="0"/>
              <a:t>	</a:t>
            </a:r>
            <a:r>
              <a:rPr lang="en-US" dirty="0" smtClean="0"/>
              <a:t>    	        </a:t>
            </a:r>
            <a:r>
              <a:rPr lang="en-US" dirty="0">
                <a:hlinkClick r:id="rId3" tooltip="Nuclear Power Corporation of India"/>
              </a:rPr>
              <a:t>NPCIL</a:t>
            </a:r>
            <a:r>
              <a:rPr lang="en-US" dirty="0"/>
              <a:t>  </a:t>
            </a:r>
            <a:r>
              <a:rPr lang="en-US" dirty="0" smtClean="0"/>
              <a:t>       </a:t>
            </a:r>
            <a:r>
              <a:rPr lang="en-US" dirty="0" smtClean="0">
                <a:hlinkClick r:id="rId7" tooltip="Gujarat"/>
              </a:rPr>
              <a:t>Gujarat</a:t>
            </a:r>
            <a:r>
              <a:rPr lang="en-US" dirty="0" smtClean="0"/>
              <a:t> </a:t>
            </a:r>
            <a:r>
              <a:rPr lang="en-US" dirty="0"/>
              <a:t>	</a:t>
            </a:r>
            <a:r>
              <a:rPr lang="en-US" dirty="0" smtClean="0"/>
              <a:t>  </a:t>
            </a:r>
            <a:r>
              <a:rPr lang="en-US" dirty="0" smtClean="0">
                <a:hlinkClick r:id="rId5" tooltip="CANDU"/>
              </a:rPr>
              <a:t>PHWR</a:t>
            </a:r>
            <a:r>
              <a:rPr lang="en-US" dirty="0" smtClean="0"/>
              <a:t>         220 </a:t>
            </a:r>
            <a:r>
              <a:rPr lang="en-US" dirty="0"/>
              <a:t>x 2 </a:t>
            </a:r>
            <a:r>
              <a:rPr lang="en-US" dirty="0" smtClean="0"/>
              <a:t>          		  440 </a:t>
            </a:r>
            <a:endParaRPr lang="en-US" dirty="0"/>
          </a:p>
          <a:p>
            <a:pPr algn="just"/>
            <a:r>
              <a:rPr lang="en-US" dirty="0">
                <a:hlinkClick r:id="rId8" tooltip="Madras Atomic Power Station"/>
              </a:rPr>
              <a:t>Kalpakkam</a:t>
            </a:r>
            <a:r>
              <a:rPr lang="en-US" dirty="0"/>
              <a:t> 		</a:t>
            </a:r>
            <a:r>
              <a:rPr lang="en-US" dirty="0">
                <a:hlinkClick r:id="rId3" tooltip="Nuclear Power Corporation of India"/>
              </a:rPr>
              <a:t>NPCIL</a:t>
            </a:r>
            <a:r>
              <a:rPr lang="en-US" dirty="0"/>
              <a:t>	</a:t>
            </a:r>
            <a:r>
              <a:rPr lang="en-US" dirty="0" smtClean="0"/>
              <a:t> </a:t>
            </a:r>
            <a:r>
              <a:rPr lang="en-US" dirty="0" smtClean="0">
                <a:hlinkClick r:id="rId9" tooltip="Tamil Nadu"/>
              </a:rPr>
              <a:t>Tamil </a:t>
            </a:r>
            <a:r>
              <a:rPr lang="en-US" dirty="0">
                <a:hlinkClick r:id="rId9" tooltip="Tamil Nadu"/>
              </a:rPr>
              <a:t>Nadu</a:t>
            </a:r>
            <a:r>
              <a:rPr lang="en-US" dirty="0"/>
              <a:t> 	</a:t>
            </a:r>
            <a:r>
              <a:rPr lang="en-US" dirty="0" smtClean="0"/>
              <a:t>  </a:t>
            </a:r>
            <a:r>
              <a:rPr lang="en-US" dirty="0" smtClean="0">
                <a:hlinkClick r:id="rId5" tooltip="CANDU"/>
              </a:rPr>
              <a:t>PHWR</a:t>
            </a:r>
            <a:r>
              <a:rPr lang="en-US" dirty="0" smtClean="0"/>
              <a:t> </a:t>
            </a:r>
            <a:r>
              <a:rPr lang="en-US" dirty="0"/>
              <a:t>		</a:t>
            </a:r>
            <a:r>
              <a:rPr lang="en-US" dirty="0" smtClean="0"/>
              <a:t> 220 </a:t>
            </a:r>
            <a:r>
              <a:rPr lang="en-US" dirty="0"/>
              <a:t>x 2  			</a:t>
            </a:r>
            <a:r>
              <a:rPr lang="en-US" dirty="0" smtClean="0"/>
              <a:t>  440</a:t>
            </a:r>
          </a:p>
          <a:p>
            <a:pPr algn="just"/>
            <a:r>
              <a:rPr lang="en-US" dirty="0" smtClean="0">
                <a:hlinkClick r:id="rId10" tooltip="Narora Atomic Power Station"/>
              </a:rPr>
              <a:t>Narora</a:t>
            </a:r>
            <a:r>
              <a:rPr lang="en-US" dirty="0"/>
              <a:t>		</a:t>
            </a:r>
            <a:r>
              <a:rPr lang="en-US" dirty="0" smtClean="0"/>
              <a:t>        </a:t>
            </a:r>
            <a:r>
              <a:rPr lang="en-US" dirty="0">
                <a:hlinkClick r:id="rId3" tooltip="Nuclear Power Corporation of India"/>
              </a:rPr>
              <a:t>NPCIL</a:t>
            </a:r>
            <a:r>
              <a:rPr lang="en-US" dirty="0"/>
              <a:t>	</a:t>
            </a:r>
            <a:r>
              <a:rPr lang="en-US" dirty="0" smtClean="0"/>
              <a:t> </a:t>
            </a:r>
            <a:r>
              <a:rPr lang="en-US" dirty="0">
                <a:hlinkClick r:id="rId11" tooltip="Uttar Pradesh"/>
              </a:rPr>
              <a:t>Uttar </a:t>
            </a:r>
            <a:r>
              <a:rPr lang="en-US" dirty="0" smtClean="0">
                <a:hlinkClick r:id="rId11" tooltip="Uttar Pradesh"/>
              </a:rPr>
              <a:t>Pradesh</a:t>
            </a:r>
            <a:r>
              <a:rPr lang="en-US" dirty="0" smtClean="0"/>
              <a:t>  </a:t>
            </a:r>
            <a:r>
              <a:rPr lang="en-US" dirty="0">
                <a:hlinkClick r:id="rId5" tooltip="CANDU"/>
              </a:rPr>
              <a:t>PHWR</a:t>
            </a:r>
            <a:r>
              <a:rPr lang="en-US" dirty="0"/>
              <a:t> 	</a:t>
            </a:r>
            <a:r>
              <a:rPr lang="en-US" dirty="0" smtClean="0"/>
              <a:t> 220 </a:t>
            </a:r>
            <a:r>
              <a:rPr lang="en-US" dirty="0"/>
              <a:t>x 2 		</a:t>
            </a:r>
            <a:r>
              <a:rPr lang="en-US" dirty="0" smtClean="0"/>
              <a:t>          440</a:t>
            </a:r>
            <a:endParaRPr lang="en-US" dirty="0"/>
          </a:p>
          <a:p>
            <a:pPr algn="just"/>
            <a:r>
              <a:rPr lang="en-US" dirty="0" smtClean="0">
                <a:hlinkClick r:id="rId12" tooltip="Rajasthan Atomic Power Station"/>
              </a:rPr>
              <a:t>Rawatbhata</a:t>
            </a:r>
            <a:r>
              <a:rPr lang="en-US" dirty="0" smtClean="0"/>
              <a:t>            </a:t>
            </a:r>
            <a:r>
              <a:rPr lang="en-US" dirty="0" smtClean="0">
                <a:hlinkClick r:id="rId3" tooltip="Nuclear Power Corporation of India"/>
              </a:rPr>
              <a:t>NPCIL</a:t>
            </a:r>
            <a:r>
              <a:rPr lang="en-US" dirty="0" smtClean="0"/>
              <a:t>      </a:t>
            </a:r>
            <a:r>
              <a:rPr lang="en-US" dirty="0">
                <a:hlinkClick r:id="rId13" tooltip="Rajasthan"/>
              </a:rPr>
              <a:t>Rajasthan</a:t>
            </a:r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dirty="0" smtClean="0">
                <a:hlinkClick r:id="rId5" tooltip="CANDU"/>
              </a:rPr>
              <a:t>PHWR</a:t>
            </a:r>
            <a:r>
              <a:rPr lang="en-US" dirty="0" smtClean="0"/>
              <a:t>         100 </a:t>
            </a:r>
            <a:r>
              <a:rPr lang="en-US" dirty="0"/>
              <a:t>x 1</a:t>
            </a:r>
            <a:br>
              <a:rPr lang="en-US" dirty="0"/>
            </a:br>
            <a:r>
              <a:rPr lang="en-US" dirty="0" smtClean="0"/>
              <a:t>												 200 </a:t>
            </a:r>
            <a:r>
              <a:rPr lang="en-US" dirty="0"/>
              <a:t>x </a:t>
            </a:r>
            <a:r>
              <a:rPr lang="en-US" dirty="0" smtClean="0"/>
              <a:t>1                    1180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											 220 </a:t>
            </a:r>
            <a:r>
              <a:rPr lang="en-US" dirty="0"/>
              <a:t>x 4 </a:t>
            </a:r>
          </a:p>
          <a:p>
            <a:pPr algn="just"/>
            <a:r>
              <a:rPr lang="en-US" dirty="0"/>
              <a:t> </a:t>
            </a:r>
            <a:r>
              <a:rPr lang="en-US" dirty="0">
                <a:hlinkClick r:id="rId14" tooltip="Tarapur Atomic Power Station"/>
              </a:rPr>
              <a:t>Tarapur</a:t>
            </a:r>
            <a:r>
              <a:rPr lang="en-US" dirty="0"/>
              <a:t> </a:t>
            </a:r>
            <a:r>
              <a:rPr lang="en-US" dirty="0" smtClean="0"/>
              <a:t>          	</a:t>
            </a:r>
            <a:r>
              <a:rPr lang="en-US" dirty="0" smtClean="0">
                <a:hlinkClick r:id="rId3" tooltip="Nuclear Power Corporation of India"/>
              </a:rPr>
              <a:t>NPCIL</a:t>
            </a:r>
            <a:r>
              <a:rPr lang="en-US" dirty="0" smtClean="0"/>
              <a:t>    </a:t>
            </a:r>
            <a:r>
              <a:rPr lang="en-US" dirty="0" smtClean="0">
                <a:hlinkClick r:id="rId15" tooltip="Maharashtra"/>
              </a:rPr>
              <a:t>Maharashtra</a:t>
            </a:r>
            <a:r>
              <a:rPr lang="en-US" dirty="0" smtClean="0"/>
              <a:t> 	    </a:t>
            </a:r>
            <a:r>
              <a:rPr lang="en-US" dirty="0" smtClean="0">
                <a:hlinkClick r:id="rId16" tooltip="Boiling water reactor"/>
              </a:rPr>
              <a:t>BWR</a:t>
            </a:r>
            <a:r>
              <a:rPr lang="en-US" dirty="0"/>
              <a:t>  </a:t>
            </a:r>
            <a:r>
              <a:rPr lang="en-US" dirty="0" smtClean="0"/>
              <a:t>         160 </a:t>
            </a:r>
            <a:r>
              <a:rPr lang="en-US" dirty="0"/>
              <a:t>x 2</a:t>
            </a:r>
            <a:br>
              <a:rPr lang="en-US" dirty="0"/>
            </a:br>
            <a:r>
              <a:rPr lang="en-US" dirty="0" smtClean="0"/>
              <a:t>									</a:t>
            </a:r>
            <a:r>
              <a:rPr lang="en-US" dirty="0"/>
              <a:t> </a:t>
            </a:r>
            <a:r>
              <a:rPr lang="en-US" dirty="0" smtClean="0"/>
              <a:t> (</a:t>
            </a:r>
            <a:r>
              <a:rPr lang="en-US" dirty="0" smtClean="0">
                <a:hlinkClick r:id="rId5" tooltip="CANDU"/>
              </a:rPr>
              <a:t>PHWR</a:t>
            </a:r>
            <a:r>
              <a:rPr lang="en-US" dirty="0" smtClean="0"/>
              <a:t>)        540 </a:t>
            </a:r>
            <a:r>
              <a:rPr lang="en-US" dirty="0"/>
              <a:t>x 2 </a:t>
            </a:r>
            <a:r>
              <a:rPr lang="en-US" dirty="0" smtClean="0"/>
              <a:t>			 1400 </a:t>
            </a:r>
          </a:p>
          <a:p>
            <a:pPr algn="just"/>
            <a:endParaRPr lang="en-US" dirty="0" smtClean="0"/>
          </a:p>
          <a:p>
            <a:pPr algn="just"/>
            <a:r>
              <a:rPr lang="en-US" b="1" dirty="0" smtClean="0"/>
              <a:t>										Total</a:t>
            </a:r>
            <a:r>
              <a:rPr lang="en-US" dirty="0" smtClean="0"/>
              <a:t>         </a:t>
            </a:r>
            <a:r>
              <a:rPr lang="en-US" b="1" dirty="0" smtClean="0"/>
              <a:t>20</a:t>
            </a:r>
            <a:r>
              <a:rPr lang="en-US" dirty="0" smtClean="0"/>
              <a:t>                         </a:t>
            </a:r>
            <a:r>
              <a:rPr lang="en-US" b="1" dirty="0" smtClean="0"/>
              <a:t>4780</a:t>
            </a:r>
            <a:endParaRPr lang="en-US" b="1" dirty="0"/>
          </a:p>
          <a:p>
            <a:pPr algn="just"/>
            <a:r>
              <a:rPr lang="en-US" dirty="0"/>
              <a:t> The projects under construction are</a:t>
            </a:r>
            <a:r>
              <a:rPr lang="en-US" dirty="0" smtClean="0"/>
              <a:t>:</a:t>
            </a:r>
          </a:p>
          <a:p>
            <a:pPr algn="just"/>
            <a:endParaRPr lang="en-US" dirty="0"/>
          </a:p>
          <a:p>
            <a:pPr algn="just">
              <a:tabLst>
                <a:tab pos="3249613" algn="l"/>
                <a:tab pos="4406900" algn="l"/>
                <a:tab pos="5659438" algn="l"/>
              </a:tabLst>
            </a:pPr>
            <a:r>
              <a:rPr lang="en-US" dirty="0"/>
              <a:t>Power station </a:t>
            </a:r>
            <a:r>
              <a:rPr lang="en-US" dirty="0" smtClean="0"/>
              <a:t>    Operator             State           Type               Units      Total </a:t>
            </a:r>
            <a:r>
              <a:rPr lang="en-US" dirty="0"/>
              <a:t>capacity (MW)</a:t>
            </a:r>
          </a:p>
          <a:p>
            <a:pPr algn="just"/>
            <a:r>
              <a:rPr lang="en-US" dirty="0"/>
              <a:t> </a:t>
            </a:r>
            <a:r>
              <a:rPr lang="en-US" dirty="0">
                <a:hlinkClick r:id="rId17" tooltip="Kudankulam Nuclear Power Plant"/>
              </a:rPr>
              <a:t>Kudankulam</a:t>
            </a:r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dirty="0" smtClean="0">
                <a:hlinkClick r:id="rId3" tooltip="Nuclear Power Corporation of India"/>
              </a:rPr>
              <a:t>NPCIL</a:t>
            </a:r>
            <a:r>
              <a:rPr lang="en-US" dirty="0" smtClean="0"/>
              <a:t>        </a:t>
            </a:r>
            <a:r>
              <a:rPr lang="en-US" dirty="0" smtClean="0">
                <a:hlinkClick r:id="rId9" tooltip="Tamil Nadu"/>
              </a:rPr>
              <a:t>Tamil Nadu</a:t>
            </a:r>
            <a:r>
              <a:rPr lang="en-US" dirty="0" smtClean="0"/>
              <a:t>  </a:t>
            </a:r>
            <a:r>
              <a:rPr lang="en-US" dirty="0" smtClean="0">
                <a:hlinkClick r:id="rId18" tooltip="VVER"/>
              </a:rPr>
              <a:t>VVER</a:t>
            </a:r>
            <a:r>
              <a:rPr lang="en-US" dirty="0">
                <a:hlinkClick r:id="rId18" tooltip="VVER"/>
              </a:rPr>
              <a:t>-1000</a:t>
            </a:r>
            <a:r>
              <a:rPr lang="en-US" dirty="0"/>
              <a:t> </a:t>
            </a:r>
            <a:r>
              <a:rPr lang="en-US" dirty="0" smtClean="0"/>
              <a:t>    1000 </a:t>
            </a:r>
            <a:r>
              <a:rPr lang="en-US" dirty="0"/>
              <a:t>x </a:t>
            </a:r>
            <a:r>
              <a:rPr lang="en-US" dirty="0" smtClean="0"/>
              <a:t>2              </a:t>
            </a:r>
            <a:r>
              <a:rPr lang="en-US" dirty="0"/>
              <a:t>2000</a:t>
            </a:r>
          </a:p>
          <a:p>
            <a:pPr algn="just"/>
            <a:r>
              <a:rPr lang="en-US" dirty="0"/>
              <a:t> </a:t>
            </a:r>
            <a:r>
              <a:rPr lang="en-US" dirty="0" smtClean="0">
                <a:hlinkClick r:id="rId8" tooltip="Madras Atomic Power Station"/>
              </a:rPr>
              <a:t>Kalpakkam</a:t>
            </a:r>
            <a:r>
              <a:rPr lang="en-US" dirty="0" smtClean="0"/>
              <a:t>      </a:t>
            </a:r>
            <a:r>
              <a:rPr lang="en-US" dirty="0" smtClean="0">
                <a:hlinkClick r:id="rId19" tooltip="Bharatiya Nabhikiya Vidyut Nigam Limited (page does not exist)"/>
              </a:rPr>
              <a:t>BHAVINI</a:t>
            </a:r>
            <a:r>
              <a:rPr lang="en-US" dirty="0" smtClean="0"/>
              <a:t> </a:t>
            </a:r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dirty="0" smtClean="0">
                <a:hlinkClick r:id="rId9" tooltip="Tamil Nadu"/>
              </a:rPr>
              <a:t>Tamil Nadu</a:t>
            </a:r>
            <a:r>
              <a:rPr lang="en-US" dirty="0" smtClean="0"/>
              <a:t>     </a:t>
            </a:r>
            <a:r>
              <a:rPr lang="en-US" dirty="0" smtClean="0">
                <a:hlinkClick r:id="rId20" tooltip="PFBR"/>
              </a:rPr>
              <a:t>PFBR</a:t>
            </a:r>
            <a:r>
              <a:rPr lang="en-US" dirty="0" smtClean="0"/>
              <a:t>		    </a:t>
            </a:r>
            <a:r>
              <a:rPr lang="en-US" dirty="0"/>
              <a:t>500 x </a:t>
            </a:r>
            <a:r>
              <a:rPr lang="en-US" dirty="0" smtClean="0"/>
              <a:t>1                500</a:t>
            </a:r>
            <a:endParaRPr lang="en-US" dirty="0"/>
          </a:p>
          <a:p>
            <a:pPr algn="just"/>
            <a:r>
              <a:rPr lang="en-US" dirty="0"/>
              <a:t> </a:t>
            </a:r>
            <a:r>
              <a:rPr lang="en-US" dirty="0" smtClean="0">
                <a:hlinkClick r:id="rId6" tooltip="Kakrapar Atomic Power Station"/>
              </a:rPr>
              <a:t>Kakrapar</a:t>
            </a:r>
            <a:r>
              <a:rPr lang="en-US" dirty="0" smtClean="0"/>
              <a:t>            </a:t>
            </a:r>
            <a:r>
              <a:rPr lang="en-US" dirty="0" smtClean="0">
                <a:hlinkClick r:id="rId3" tooltip="Nuclear Power Corporation of India"/>
              </a:rPr>
              <a:t>NPCIL</a:t>
            </a:r>
            <a:r>
              <a:rPr lang="en-US" dirty="0" smtClean="0"/>
              <a:t>            </a:t>
            </a:r>
            <a:r>
              <a:rPr lang="en-US" dirty="0">
                <a:hlinkClick r:id="rId7" tooltip="Gujarat"/>
              </a:rPr>
              <a:t>Gujarat</a:t>
            </a:r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dirty="0" smtClean="0">
                <a:hlinkClick r:id="rId5" tooltip="CANDU"/>
              </a:rPr>
              <a:t>PHWR</a:t>
            </a:r>
            <a:r>
              <a:rPr lang="en-US" dirty="0" smtClean="0"/>
              <a:t>           700 </a:t>
            </a:r>
            <a:r>
              <a:rPr lang="en-US" dirty="0"/>
              <a:t>x 2 </a:t>
            </a:r>
            <a:r>
              <a:rPr lang="en-US" dirty="0" smtClean="0"/>
              <a:t>             1400</a:t>
            </a:r>
            <a:endParaRPr lang="en-US" dirty="0"/>
          </a:p>
          <a:p>
            <a:pPr algn="just"/>
            <a:r>
              <a:rPr lang="en-US" dirty="0"/>
              <a:t> </a:t>
            </a:r>
            <a:r>
              <a:rPr lang="en-US" dirty="0" smtClean="0">
                <a:hlinkClick r:id="rId12" tooltip="Rajasthan Atomic Power Station"/>
              </a:rPr>
              <a:t>Rawatbhata</a:t>
            </a:r>
            <a:r>
              <a:rPr lang="en-US" dirty="0" smtClean="0"/>
              <a:t>        </a:t>
            </a:r>
            <a:r>
              <a:rPr lang="en-US" dirty="0" smtClean="0">
                <a:hlinkClick r:id="rId3" tooltip="Nuclear Power Corporation of India"/>
              </a:rPr>
              <a:t>NPCIL</a:t>
            </a:r>
            <a:r>
              <a:rPr lang="en-US" dirty="0" smtClean="0"/>
              <a:t>          </a:t>
            </a:r>
            <a:r>
              <a:rPr lang="en-US" dirty="0">
                <a:hlinkClick r:id="rId13" tooltip="Rajasthan"/>
              </a:rPr>
              <a:t>Rajasthan</a:t>
            </a:r>
            <a:r>
              <a:rPr lang="en-US" dirty="0"/>
              <a:t> </a:t>
            </a:r>
            <a:r>
              <a:rPr lang="en-US" dirty="0" smtClean="0"/>
              <a:t>      </a:t>
            </a:r>
            <a:r>
              <a:rPr lang="en-US" dirty="0" smtClean="0">
                <a:hlinkClick r:id="rId5" tooltip="CANDU"/>
              </a:rPr>
              <a:t>PHWR</a:t>
            </a:r>
            <a:r>
              <a:rPr lang="en-US" dirty="0" smtClean="0"/>
              <a:t>           700 </a:t>
            </a:r>
            <a:r>
              <a:rPr lang="en-US" dirty="0"/>
              <a:t>x 2 </a:t>
            </a:r>
            <a:r>
              <a:rPr lang="en-US" dirty="0" smtClean="0"/>
              <a:t>             1400 </a:t>
            </a:r>
          </a:p>
          <a:p>
            <a:pPr algn="just"/>
            <a:endParaRPr lang="en-US" dirty="0" smtClean="0"/>
          </a:p>
          <a:p>
            <a:pPr algn="just"/>
            <a:r>
              <a:rPr lang="en-US" b="1" dirty="0" smtClean="0"/>
              <a:t>                                                                              Total             </a:t>
            </a:r>
            <a:r>
              <a:rPr lang="en-US" dirty="0" smtClean="0"/>
              <a:t> </a:t>
            </a:r>
            <a:r>
              <a:rPr lang="en-US" b="1" dirty="0"/>
              <a:t>7</a:t>
            </a:r>
            <a:r>
              <a:rPr lang="en-US" dirty="0"/>
              <a:t> </a:t>
            </a:r>
            <a:r>
              <a:rPr lang="en-US" dirty="0" smtClean="0"/>
              <a:t>                     </a:t>
            </a:r>
            <a:r>
              <a:rPr lang="en-US" b="1" dirty="0" smtClean="0"/>
              <a:t>5300</a:t>
            </a:r>
            <a:r>
              <a:rPr lang="en-US" dirty="0" smtClean="0"/>
              <a:t> </a:t>
            </a:r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33400" y="685800"/>
            <a:ext cx="30187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bg2"/>
                </a:solidFill>
              </a:rPr>
              <a:t>What is a nuclear reactor</a:t>
            </a:r>
            <a:endParaRPr lang="en-US" sz="2000" b="1" dirty="0">
              <a:solidFill>
                <a:schemeClr val="bg2"/>
              </a:solidFill>
            </a:endParaRPr>
          </a:p>
        </p:txBody>
      </p:sp>
      <p:pic>
        <p:nvPicPr>
          <p:cNvPr id="6" name="Picture 6" descr="pwr"/>
          <p:cNvPicPr>
            <a:picLocks noGrp="1" noChangeAspect="1" noChangeArrowheads="1" noCro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77825" y="1371600"/>
            <a:ext cx="8308975" cy="4292600"/>
          </a:xfrm>
          <a:noFill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533400"/>
            <a:ext cx="8879354" cy="56938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bg2"/>
                </a:solidFill>
              </a:rPr>
              <a:t>What kind of reactor is used in </a:t>
            </a:r>
            <a:r>
              <a:rPr lang="en-US" sz="2000" dirty="0">
                <a:solidFill>
                  <a:schemeClr val="bg2"/>
                </a:solidFill>
              </a:rPr>
              <a:t>K</a:t>
            </a:r>
            <a:r>
              <a:rPr lang="en-US" sz="2000" dirty="0" smtClean="0">
                <a:solidFill>
                  <a:schemeClr val="bg2"/>
                </a:solidFill>
              </a:rPr>
              <a:t>udankulam </a:t>
            </a:r>
            <a:r>
              <a:rPr lang="en-US" sz="2000" dirty="0" smtClean="0">
                <a:solidFill>
                  <a:schemeClr val="bg2"/>
                </a:solidFill>
              </a:rPr>
              <a:t>?</a:t>
            </a:r>
          </a:p>
          <a:p>
            <a:endParaRPr lang="en-US" sz="2000" dirty="0" smtClean="0">
              <a:solidFill>
                <a:schemeClr val="bg2"/>
              </a:solidFill>
            </a:endParaRPr>
          </a:p>
          <a:p>
            <a:endParaRPr lang="en-US" dirty="0" smtClean="0">
              <a:solidFill>
                <a:schemeClr val="bg2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000000"/>
                </a:solidFill>
              </a:rPr>
              <a:t>VVER (WWER)-</a:t>
            </a:r>
            <a:r>
              <a:rPr lang="en-US" dirty="0" err="1" smtClean="0">
                <a:solidFill>
                  <a:srgbClr val="000000"/>
                </a:solidFill>
              </a:rPr>
              <a:t>Vodo-Vodyanoi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Energetichesky</a:t>
            </a:r>
            <a:r>
              <a:rPr lang="en-US" dirty="0" smtClean="0">
                <a:solidFill>
                  <a:srgbClr val="000000"/>
                </a:solidFill>
              </a:rPr>
              <a:t> Reactor (water- water power reactor)</a:t>
            </a:r>
            <a:endParaRPr lang="en-US" dirty="0" smtClean="0">
              <a:solidFill>
                <a:srgbClr val="000000"/>
              </a:solidFill>
            </a:endParaRPr>
          </a:p>
          <a:p>
            <a:r>
              <a:rPr lang="en-US" dirty="0" smtClean="0"/>
              <a:t>     First versio</a:t>
            </a:r>
            <a:r>
              <a:rPr lang="en-US" dirty="0" smtClean="0"/>
              <a:t>n  </a:t>
            </a:r>
            <a:r>
              <a:rPr lang="en-US" dirty="0" smtClean="0">
                <a:sym typeface="Wingdings"/>
              </a:rPr>
              <a:t>  </a:t>
            </a:r>
            <a:r>
              <a:rPr lang="en-US" dirty="0" smtClean="0"/>
              <a:t>VVER – 440 model V230</a:t>
            </a:r>
          </a:p>
          <a:p>
            <a:r>
              <a:rPr lang="en-US" dirty="0"/>
              <a:t> </a:t>
            </a:r>
            <a:r>
              <a:rPr lang="en-US" dirty="0" smtClean="0"/>
              <a:t>    Modified version  </a:t>
            </a:r>
            <a:r>
              <a:rPr lang="en-US" dirty="0" smtClean="0">
                <a:sym typeface="Wingdings"/>
              </a:rPr>
              <a:t> VVER- 440 model V213 (includes safety standards)</a:t>
            </a:r>
          </a:p>
          <a:p>
            <a:r>
              <a:rPr lang="en-US" dirty="0">
                <a:sym typeface="Wingdings"/>
              </a:rPr>
              <a:t> </a:t>
            </a:r>
            <a:r>
              <a:rPr lang="en-US" dirty="0" smtClean="0">
                <a:sym typeface="Wingdings"/>
              </a:rPr>
              <a:t>    advanced version  VVER-1000 (one used in </a:t>
            </a:r>
            <a:r>
              <a:rPr lang="en-US" dirty="0">
                <a:sym typeface="Wingdings"/>
              </a:rPr>
              <a:t>K</a:t>
            </a:r>
            <a:r>
              <a:rPr lang="en-US" dirty="0" smtClean="0">
                <a:sym typeface="Wingdings"/>
              </a:rPr>
              <a:t>udankulam plant)</a:t>
            </a:r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rgbClr val="000000"/>
              </a:solidFill>
              <a:sym typeface="Wingdings"/>
            </a:endParaRPr>
          </a:p>
          <a:p>
            <a:pPr marL="285750" indent="-285750">
              <a:buFont typeface="Arial"/>
              <a:buChar char="•"/>
            </a:pPr>
            <a:r>
              <a:rPr lang="en-US" dirty="0" smtClean="0">
                <a:solidFill>
                  <a:srgbClr val="000000"/>
                </a:solidFill>
                <a:sym typeface="Wingdings"/>
              </a:rPr>
              <a:t>VVER-1000 developed by Russian in 1975, </a:t>
            </a:r>
            <a:r>
              <a:rPr lang="en-US" dirty="0" smtClean="0"/>
              <a:t>capacity </a:t>
            </a:r>
            <a:r>
              <a:rPr lang="en-US" dirty="0"/>
              <a:t>of generating 1000 </a:t>
            </a:r>
            <a:r>
              <a:rPr lang="en-US" dirty="0" smtClean="0"/>
              <a:t>MW.</a:t>
            </a:r>
          </a:p>
          <a:p>
            <a:pPr marL="285750" indent="-285750">
              <a:buFont typeface="Arial"/>
              <a:buChar char="•"/>
            </a:pPr>
            <a:endParaRPr lang="en-US" dirty="0" smtClean="0"/>
          </a:p>
          <a:p>
            <a:r>
              <a:rPr lang="en-US" dirty="0" smtClean="0"/>
              <a:t>      a) Water cooled, water-moderated- energy reactor (similar to PWR).</a:t>
            </a:r>
          </a:p>
          <a:p>
            <a:r>
              <a:rPr lang="en-US" dirty="0"/>
              <a:t> </a:t>
            </a:r>
            <a:r>
              <a:rPr lang="en-US" dirty="0" smtClean="0"/>
              <a:t>          Reactor fuel is fully immersed in water at </a:t>
            </a:r>
            <a:r>
              <a:rPr lang="en-US" u="sng" dirty="0" smtClean="0">
                <a:solidFill>
                  <a:schemeClr val="accent1"/>
                </a:solidFill>
              </a:rPr>
              <a:t>15 </a:t>
            </a:r>
            <a:r>
              <a:rPr lang="en-US" u="sng" dirty="0" err="1" smtClean="0">
                <a:solidFill>
                  <a:schemeClr val="accent1"/>
                </a:solidFill>
              </a:rPr>
              <a:t>Mpa</a:t>
            </a:r>
            <a:r>
              <a:rPr lang="en-US" u="sng" dirty="0" smtClean="0">
                <a:solidFill>
                  <a:schemeClr val="accent1"/>
                </a:solidFill>
              </a:rPr>
              <a:t> </a:t>
            </a:r>
            <a:r>
              <a:rPr lang="en-US" dirty="0" smtClean="0"/>
              <a:t>of pressure. </a:t>
            </a:r>
          </a:p>
          <a:p>
            <a:r>
              <a:rPr lang="en-US" dirty="0" smtClean="0"/>
              <a:t>     </a:t>
            </a:r>
          </a:p>
          <a:p>
            <a:r>
              <a:rPr lang="en-US" dirty="0"/>
              <a:t> </a:t>
            </a:r>
            <a:r>
              <a:rPr lang="en-US" dirty="0" smtClean="0"/>
              <a:t>     b</a:t>
            </a:r>
            <a:r>
              <a:rPr lang="en-US" dirty="0"/>
              <a:t>) Fuel is </a:t>
            </a:r>
            <a:r>
              <a:rPr lang="en-US" dirty="0">
                <a:hlinkClick r:id="rId2" tooltip="Low enriched uranium"/>
              </a:rPr>
              <a:t>low enriched</a:t>
            </a:r>
            <a:r>
              <a:rPr lang="en-US" dirty="0"/>
              <a:t> </a:t>
            </a:r>
            <a:r>
              <a:rPr lang="en-US" dirty="0" smtClean="0"/>
              <a:t>(2.4</a:t>
            </a:r>
            <a:r>
              <a:rPr lang="en-US" dirty="0"/>
              <a:t>–4.4% </a:t>
            </a:r>
            <a:r>
              <a:rPr lang="en-US" baseline="30000" dirty="0"/>
              <a:t>235</a:t>
            </a:r>
            <a:r>
              <a:rPr lang="en-US" dirty="0"/>
              <a:t>U) </a:t>
            </a:r>
            <a:r>
              <a:rPr lang="en-US" dirty="0">
                <a:hlinkClick r:id="rId3" tooltip="Uranium dioxide"/>
              </a:rPr>
              <a:t>uranium dioxide</a:t>
            </a:r>
            <a:r>
              <a:rPr lang="en-US" dirty="0"/>
              <a:t> (UO</a:t>
            </a:r>
            <a:r>
              <a:rPr lang="en-US" baseline="-25000" dirty="0"/>
              <a:t>2</a:t>
            </a:r>
            <a:r>
              <a:rPr lang="en-US" dirty="0" smtClean="0"/>
              <a:t>),pressed into</a:t>
            </a:r>
          </a:p>
          <a:p>
            <a:r>
              <a:rPr lang="en-US" dirty="0"/>
              <a:t> </a:t>
            </a:r>
            <a:r>
              <a:rPr lang="en-US" dirty="0" smtClean="0"/>
              <a:t>         </a:t>
            </a:r>
            <a:r>
              <a:rPr lang="en-US" dirty="0"/>
              <a:t>pellets and assembled into fuel rods.  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>
                <a:solidFill>
                  <a:srgbClr val="000000"/>
                </a:solidFill>
              </a:rPr>
              <a:t>      c) Has a four loop system housed in a containment type structure. </a:t>
            </a:r>
            <a:endParaRPr lang="en-US" dirty="0" smtClean="0">
              <a:solidFill>
                <a:srgbClr val="000000"/>
              </a:solidFill>
            </a:endParaRP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VVER – Russian </a:t>
            </a:r>
            <a:r>
              <a:rPr lang="en-US" sz="3200" dirty="0" smtClean="0"/>
              <a:t>PWR( pressurized water reactor) </a:t>
            </a:r>
            <a:r>
              <a:rPr lang="en-US" sz="3200" dirty="0"/>
              <a:t>(Water-Cooled, Water-Moderated, Energy Reactor)</a:t>
            </a:r>
          </a:p>
        </p:txBody>
      </p:sp>
      <p:pic>
        <p:nvPicPr>
          <p:cNvPr id="113670" name="Picture 6" descr="vver_reactor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 l="412" t="1065" r="412" b="761"/>
          <a:stretch>
            <a:fillRect/>
          </a:stretch>
        </p:blipFill>
        <p:spPr>
          <a:xfrm>
            <a:off x="381000" y="1752600"/>
            <a:ext cx="8347075" cy="4467225"/>
          </a:xfrm>
          <a:ln w="25400">
            <a:solidFill>
              <a:schemeClr val="bg1"/>
            </a:solidFill>
          </a:ln>
        </p:spPr>
      </p:pic>
      <p:sp>
        <p:nvSpPr>
          <p:cNvPr id="113671" name="Rectangle 7"/>
          <p:cNvSpPr>
            <a:spLocks noChangeArrowheads="1"/>
          </p:cNvSpPr>
          <p:nvPr/>
        </p:nvSpPr>
        <p:spPr bwMode="auto">
          <a:xfrm>
            <a:off x="5334000" y="6491288"/>
            <a:ext cx="3378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www.nucleartourist.com</a:t>
            </a:r>
            <a:r>
              <a:rPr lang="en-US" dirty="0"/>
              <a:t>/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292656"/>
            <a:ext cx="558358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Primary cooling </a:t>
            </a:r>
            <a:r>
              <a:rPr lang="en-US" sz="1600" b="1" dirty="0" smtClean="0">
                <a:solidFill>
                  <a:schemeClr val="bg1">
                    <a:lumMod val="50000"/>
                  </a:schemeClr>
                </a:solidFill>
              </a:rPr>
              <a:t>circuit</a:t>
            </a:r>
            <a:endParaRPr lang="en-US" sz="1600" b="1" dirty="0"/>
          </a:p>
          <a:p>
            <a:pPr marL="285750" indent="-285750">
              <a:buFont typeface="Arial"/>
              <a:buChar char="•"/>
            </a:pPr>
            <a:r>
              <a:rPr lang="en-US" sz="1600" dirty="0" smtClean="0">
                <a:solidFill>
                  <a:srgbClr val="FBF9F3"/>
                </a:solidFill>
              </a:rPr>
              <a:t>Reactor </a:t>
            </a:r>
            <a:r>
              <a:rPr lang="en-US" sz="1600" dirty="0" smtClean="0"/>
              <a:t>: </a:t>
            </a:r>
            <a:r>
              <a:rPr lang="en-US" sz="1600" dirty="0"/>
              <a:t>Water flows through fuel rod assemblies </a:t>
            </a:r>
          </a:p>
          <a:p>
            <a:r>
              <a:rPr lang="en-US" sz="1600" dirty="0" smtClean="0"/>
              <a:t>                     and </a:t>
            </a:r>
            <a:r>
              <a:rPr lang="en-US" sz="1600" dirty="0"/>
              <a:t>is heated by the nuclear chain reaction.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FBF9F3"/>
                </a:solidFill>
              </a:rPr>
              <a:t>Volume </a:t>
            </a:r>
            <a:r>
              <a:rPr lang="en-US" sz="1600" dirty="0" smtClean="0">
                <a:solidFill>
                  <a:srgbClr val="FBF9F3"/>
                </a:solidFill>
              </a:rPr>
              <a:t>compensator </a:t>
            </a:r>
            <a:r>
              <a:rPr lang="en-US" sz="1600" dirty="0" smtClean="0"/>
              <a:t>: </a:t>
            </a:r>
            <a:r>
              <a:rPr lang="en-US" sz="1600" dirty="0"/>
              <a:t>To keep the water under </a:t>
            </a:r>
            <a:endParaRPr lang="en-US" sz="1600" dirty="0" smtClean="0"/>
          </a:p>
          <a:p>
            <a:r>
              <a:rPr lang="en-US" sz="1600" dirty="0" smtClean="0"/>
              <a:t>                                            constant </a:t>
            </a:r>
            <a:r>
              <a:rPr lang="en-US" sz="1600" dirty="0"/>
              <a:t>but controlled </a:t>
            </a:r>
            <a:r>
              <a:rPr lang="en-US" sz="1600" dirty="0" smtClean="0"/>
              <a:t>pressure</a:t>
            </a:r>
            <a:r>
              <a:rPr lang="en-US" sz="1600" dirty="0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FBF9F3"/>
                </a:solidFill>
              </a:rPr>
              <a:t>Steam </a:t>
            </a:r>
            <a:r>
              <a:rPr lang="en-US" sz="1600" dirty="0" smtClean="0">
                <a:solidFill>
                  <a:srgbClr val="FBF9F3"/>
                </a:solidFill>
              </a:rPr>
              <a:t>Generator </a:t>
            </a:r>
            <a:r>
              <a:rPr lang="en-US" sz="1600" dirty="0" smtClean="0"/>
              <a:t>: heat </a:t>
            </a:r>
            <a:r>
              <a:rPr lang="en-US" sz="1600" dirty="0"/>
              <a:t>from primary coolant water is </a:t>
            </a:r>
            <a:r>
              <a:rPr lang="en-US" sz="1600" dirty="0" smtClean="0"/>
              <a:t>used</a:t>
            </a:r>
          </a:p>
          <a:p>
            <a:r>
              <a:rPr lang="en-US" sz="1600" dirty="0" smtClean="0"/>
              <a:t>                                     </a:t>
            </a:r>
            <a:r>
              <a:rPr lang="en-US" sz="1600" dirty="0"/>
              <a:t>to boil water in the secondary circuit.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smtClean="0">
                <a:solidFill>
                  <a:srgbClr val="FBF9F3"/>
                </a:solidFill>
              </a:rPr>
              <a:t>Pump </a:t>
            </a:r>
            <a:r>
              <a:rPr lang="en-US" sz="1600" dirty="0" smtClean="0"/>
              <a:t>: </a:t>
            </a:r>
            <a:r>
              <a:rPr lang="en-US" sz="1600" dirty="0"/>
              <a:t>The pump ensures proper circulation of the </a:t>
            </a:r>
            <a:endParaRPr lang="en-US" sz="1600" dirty="0" smtClean="0"/>
          </a:p>
          <a:p>
            <a:r>
              <a:rPr lang="en-US" sz="1600" dirty="0" smtClean="0"/>
              <a:t>                   water </a:t>
            </a:r>
            <a:r>
              <a:rPr lang="en-US" sz="1600" dirty="0"/>
              <a:t>through the circuit.</a:t>
            </a:r>
          </a:p>
          <a:p>
            <a:r>
              <a:rPr lang="en-US" dirty="0" smtClean="0"/>
              <a:t>              </a:t>
            </a:r>
            <a:endParaRPr lang="en-US" dirty="0"/>
          </a:p>
        </p:txBody>
      </p:sp>
      <p:pic>
        <p:nvPicPr>
          <p:cNvPr id="4" name="Picture 3" descr="250px-VVER-1000-Stereometric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495300"/>
            <a:ext cx="3175000" cy="2171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667000"/>
            <a:ext cx="8212505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Secondary circuit and electrical </a:t>
            </a:r>
            <a:r>
              <a:rPr lang="en-US" sz="1600" b="1" dirty="0" smtClean="0">
                <a:solidFill>
                  <a:schemeClr val="bg1">
                    <a:lumMod val="50000"/>
                  </a:schemeClr>
                </a:solidFill>
              </a:rPr>
              <a:t>output</a:t>
            </a:r>
            <a:endParaRPr lang="en-US" sz="1600" b="1" dirty="0" smtClean="0"/>
          </a:p>
          <a:p>
            <a:pPr marL="285750" indent="-285750">
              <a:buFont typeface="Arial"/>
              <a:buChar char="•"/>
            </a:pPr>
            <a:r>
              <a:rPr lang="en-US" sz="1600" dirty="0" smtClean="0">
                <a:solidFill>
                  <a:srgbClr val="FBF9F3"/>
                </a:solidFill>
              </a:rPr>
              <a:t>Steam Generator </a:t>
            </a:r>
            <a:r>
              <a:rPr lang="en-US" sz="1600" dirty="0" smtClean="0"/>
              <a:t>: </a:t>
            </a:r>
            <a:r>
              <a:rPr lang="en-US" sz="1600" dirty="0"/>
              <a:t>Secondary water is boiled taking heat from the primary circuit</a:t>
            </a:r>
            <a:r>
              <a:rPr lang="en-US" sz="1600" dirty="0" smtClean="0"/>
              <a:t>.</a:t>
            </a:r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dirty="0" smtClean="0">
                <a:solidFill>
                  <a:srgbClr val="FBF9F3"/>
                </a:solidFill>
              </a:rPr>
              <a:t>Turbine </a:t>
            </a:r>
            <a:r>
              <a:rPr lang="en-US" sz="1600" dirty="0" smtClean="0"/>
              <a:t>: </a:t>
            </a:r>
            <a:r>
              <a:rPr lang="en-US" sz="1600" dirty="0"/>
              <a:t>The expanding steam drives a turbine, which connects to an electrical generator. </a:t>
            </a:r>
            <a:endParaRPr lang="en-US" sz="1600" dirty="0" smtClean="0"/>
          </a:p>
          <a:p>
            <a:pPr marL="285750" indent="-285750">
              <a:buFont typeface="Arial"/>
              <a:buChar char="•"/>
            </a:pPr>
            <a:r>
              <a:rPr lang="en-US" sz="1600" dirty="0" smtClean="0">
                <a:solidFill>
                  <a:srgbClr val="FBF9F3"/>
                </a:solidFill>
              </a:rPr>
              <a:t>Condenser </a:t>
            </a:r>
            <a:r>
              <a:rPr lang="en-US" sz="1600" dirty="0" smtClean="0"/>
              <a:t>: </a:t>
            </a:r>
            <a:r>
              <a:rPr lang="en-US" sz="1600" dirty="0"/>
              <a:t>The steam is cooled and allowed to </a:t>
            </a:r>
            <a:r>
              <a:rPr lang="en-US" sz="1600" dirty="0" smtClean="0"/>
              <a:t>condense, shedding </a:t>
            </a:r>
            <a:r>
              <a:rPr lang="en-US" sz="1600" dirty="0"/>
              <a:t>waste heat into </a:t>
            </a:r>
            <a:r>
              <a:rPr lang="en-US" sz="1600" dirty="0" smtClean="0"/>
              <a:t>a</a:t>
            </a:r>
          </a:p>
          <a:p>
            <a:r>
              <a:rPr lang="en-US" sz="1600" dirty="0" smtClean="0"/>
              <a:t>                           </a:t>
            </a:r>
            <a:r>
              <a:rPr lang="en-US" sz="1600" dirty="0"/>
              <a:t>cooling circuit.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err="1" smtClean="0">
                <a:solidFill>
                  <a:srgbClr val="FBF9F3"/>
                </a:solidFill>
              </a:rPr>
              <a:t>Deaerator</a:t>
            </a:r>
            <a:r>
              <a:rPr lang="en-US" sz="1600" dirty="0" smtClean="0"/>
              <a:t> : </a:t>
            </a:r>
            <a:r>
              <a:rPr lang="en-US" sz="1600" dirty="0"/>
              <a:t>Removes gases from the coolant.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smtClean="0">
                <a:solidFill>
                  <a:srgbClr val="FBF9F3"/>
                </a:solidFill>
              </a:rPr>
              <a:t>Pump </a:t>
            </a:r>
            <a:r>
              <a:rPr lang="en-US" sz="1600" dirty="0" smtClean="0"/>
              <a:t>: </a:t>
            </a:r>
            <a:r>
              <a:rPr lang="en-US" sz="1600" dirty="0"/>
              <a:t>The circulation pumps are each driven by their own small steam turbine.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54799" y="4724400"/>
            <a:ext cx="850745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err="1">
                <a:solidFill>
                  <a:schemeClr val="bg1">
                    <a:lumMod val="50000"/>
                  </a:schemeClr>
                </a:solidFill>
              </a:rPr>
              <a:t>Safety</a:t>
            </a:r>
            <a:r>
              <a:rPr lang="fr-FR" sz="1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fr-FR" sz="1600" b="1" dirty="0" err="1" smtClean="0">
                <a:solidFill>
                  <a:schemeClr val="bg1">
                    <a:lumMod val="50000"/>
                  </a:schemeClr>
                </a:solidFill>
              </a:rPr>
              <a:t>barriers</a:t>
            </a:r>
            <a:r>
              <a:rPr lang="fr-FR" sz="16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n-US" sz="1600" b="1" dirty="0">
              <a:sym typeface="Wingdings"/>
            </a:endParaRPr>
          </a:p>
          <a:p>
            <a:r>
              <a:rPr lang="en-US" sz="1600" b="1" dirty="0" smtClean="0">
                <a:sym typeface="Wingdings"/>
              </a:rPr>
              <a:t>   </a:t>
            </a:r>
            <a:r>
              <a:rPr lang="en-US" sz="1600" dirty="0" smtClean="0"/>
              <a:t>A </a:t>
            </a:r>
            <a:r>
              <a:rPr lang="en-US" sz="1600" dirty="0"/>
              <a:t>typical design feature of nuclear reactors is layered safety barriers preventing </a:t>
            </a:r>
            <a:endParaRPr lang="en-US" sz="1600" dirty="0" smtClean="0"/>
          </a:p>
          <a:p>
            <a:r>
              <a:rPr lang="en-US" sz="1600" dirty="0" smtClean="0"/>
              <a:t>          escape </a:t>
            </a:r>
            <a:r>
              <a:rPr lang="en-US" sz="1600" dirty="0"/>
              <a:t>of radioactive material. VVER reactors have four layers: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FBF9F3"/>
                </a:solidFill>
              </a:rPr>
              <a:t>Fuel </a:t>
            </a:r>
            <a:r>
              <a:rPr lang="en-US" sz="1600" dirty="0" smtClean="0">
                <a:solidFill>
                  <a:srgbClr val="FBF9F3"/>
                </a:solidFill>
              </a:rPr>
              <a:t>pellets </a:t>
            </a:r>
            <a:r>
              <a:rPr lang="en-US" sz="1600" dirty="0" smtClean="0"/>
              <a:t>: </a:t>
            </a:r>
            <a:r>
              <a:rPr lang="en-US" sz="1600" dirty="0"/>
              <a:t>Radioactive elements are retained within the crystal structure of the fuel pellets.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FBF9F3"/>
                </a:solidFill>
              </a:rPr>
              <a:t>Fuel </a:t>
            </a:r>
            <a:r>
              <a:rPr lang="en-US" sz="1600" dirty="0" smtClean="0">
                <a:solidFill>
                  <a:srgbClr val="FBF9F3"/>
                </a:solidFill>
              </a:rPr>
              <a:t>rods </a:t>
            </a:r>
            <a:r>
              <a:rPr lang="en-US" sz="1600" dirty="0" smtClean="0"/>
              <a:t>: </a:t>
            </a:r>
            <a:r>
              <a:rPr lang="en-US" sz="1600" dirty="0"/>
              <a:t>The </a:t>
            </a:r>
            <a:r>
              <a:rPr lang="en-US" sz="1600" dirty="0" err="1"/>
              <a:t>zircaloy</a:t>
            </a:r>
            <a:r>
              <a:rPr lang="en-US" sz="1600" dirty="0"/>
              <a:t> tubes provide a further barrier resistant to heat and high pressure.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FBF9F3"/>
                </a:solidFill>
              </a:rPr>
              <a:t>Reactor </a:t>
            </a:r>
            <a:r>
              <a:rPr lang="en-US" sz="1600" dirty="0" smtClean="0">
                <a:solidFill>
                  <a:srgbClr val="FBF9F3"/>
                </a:solidFill>
              </a:rPr>
              <a:t>Shell </a:t>
            </a:r>
            <a:r>
              <a:rPr lang="en-US" sz="1600" dirty="0" smtClean="0"/>
              <a:t>:  </a:t>
            </a:r>
            <a:r>
              <a:rPr lang="en-US" sz="1600" dirty="0"/>
              <a:t>A massive steel </a:t>
            </a:r>
            <a:r>
              <a:rPr lang="en-US" sz="1600" dirty="0" smtClean="0"/>
              <a:t>shell.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smtClean="0">
                <a:solidFill>
                  <a:srgbClr val="FBF9F3"/>
                </a:solidFill>
              </a:rPr>
              <a:t>Reactor Building </a:t>
            </a:r>
            <a:r>
              <a:rPr lang="en-US" sz="1600" dirty="0" smtClean="0"/>
              <a:t>: </a:t>
            </a:r>
            <a:r>
              <a:rPr lang="en-US" sz="1600" dirty="0"/>
              <a:t>A concrete </a:t>
            </a:r>
            <a:r>
              <a:rPr lang="en-US" sz="1600" dirty="0" smtClean="0"/>
              <a:t>containment building.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293886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762000"/>
            <a:ext cx="1506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Local protest</a:t>
            </a:r>
          </a:p>
          <a:p>
            <a:endParaRPr lang="en-US" dirty="0"/>
          </a:p>
        </p:txBody>
      </p:sp>
      <p:pic>
        <p:nvPicPr>
          <p:cNvPr id="5" name="Picture 4" descr="Kudankulam-protest-pti-Se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910" y="3505200"/>
            <a:ext cx="3911600" cy="2933700"/>
          </a:xfrm>
          <a:prstGeom prst="rect">
            <a:avLst/>
          </a:prstGeom>
        </p:spPr>
      </p:pic>
      <p:pic>
        <p:nvPicPr>
          <p:cNvPr id="6" name="Picture 5" descr="mjktMVdggj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447800"/>
            <a:ext cx="3810000" cy="2552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381000"/>
            <a:ext cx="3382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>
                    <a:lumMod val="50000"/>
                  </a:schemeClr>
                </a:solidFill>
              </a:rPr>
              <a:t>SAFETY AT KUDANKULAM 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2400" y="796289"/>
            <a:ext cx="8763938" cy="5909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charset="2"/>
              <a:buChar char="ü"/>
            </a:pPr>
            <a:r>
              <a:rPr lang="en-US" dirty="0" smtClean="0">
                <a:solidFill>
                  <a:srgbClr val="FBF9F3"/>
                </a:solidFill>
                <a:latin typeface="Times"/>
                <a:cs typeface="Times"/>
              </a:rPr>
              <a:t>Inherent safety </a:t>
            </a:r>
            <a:r>
              <a:rPr lang="en-US" dirty="0" smtClean="0">
                <a:latin typeface="Times"/>
                <a:cs typeface="Times"/>
              </a:rPr>
              <a:t>– 1. Reactor has negative power coefficient, which means that </a:t>
            </a:r>
          </a:p>
          <a:p>
            <a:r>
              <a:rPr lang="en-US" dirty="0" smtClean="0">
                <a:latin typeface="Times"/>
                <a:cs typeface="Times"/>
              </a:rPr>
              <a:t>                                   any increase in reactor power is self terminating.</a:t>
            </a:r>
          </a:p>
          <a:p>
            <a:r>
              <a:rPr lang="en-US" dirty="0" smtClean="0">
                <a:latin typeface="Times"/>
                <a:cs typeface="Times"/>
              </a:rPr>
              <a:t>                              2.  Reactor has negative void coefficient, reactor will shut down</a:t>
            </a:r>
          </a:p>
          <a:p>
            <a:r>
              <a:rPr lang="en-US" dirty="0" smtClean="0">
                <a:latin typeface="Times"/>
                <a:cs typeface="Times"/>
              </a:rPr>
              <a:t>				   if there is any loss of water.</a:t>
            </a:r>
          </a:p>
          <a:p>
            <a:pPr>
              <a:buFont typeface="Wingdings" charset="2"/>
              <a:buChar char="ü"/>
            </a:pPr>
            <a:endParaRPr lang="en-US" dirty="0" smtClean="0">
              <a:latin typeface="Times"/>
              <a:cs typeface="Times"/>
            </a:endParaRPr>
          </a:p>
          <a:p>
            <a:pPr>
              <a:buFont typeface="Wingdings" charset="2"/>
              <a:buChar char="ü"/>
            </a:pPr>
            <a:r>
              <a:rPr lang="en-US" dirty="0" smtClean="0">
                <a:latin typeface="Times"/>
                <a:cs typeface="Times"/>
              </a:rPr>
              <a:t>Reactor is equipped with </a:t>
            </a:r>
            <a:r>
              <a:rPr lang="en-US" dirty="0" smtClean="0">
                <a:solidFill>
                  <a:srgbClr val="FBF9F3"/>
                </a:solidFill>
                <a:latin typeface="Times"/>
                <a:cs typeface="Times"/>
              </a:rPr>
              <a:t>five barrier </a:t>
            </a:r>
            <a:r>
              <a:rPr lang="en-US" dirty="0" smtClean="0">
                <a:latin typeface="Times"/>
                <a:cs typeface="Times"/>
              </a:rPr>
              <a:t>to prevent radioactivity into the environment.</a:t>
            </a:r>
          </a:p>
          <a:p>
            <a:pPr marL="342900" indent="-342900"/>
            <a:r>
              <a:rPr lang="en-US" dirty="0" smtClean="0">
                <a:latin typeface="Times"/>
                <a:cs typeface="Times"/>
              </a:rPr>
              <a:t>   1</a:t>
            </a:r>
            <a:r>
              <a:rPr lang="en-US" dirty="0" smtClean="0">
                <a:latin typeface="Times"/>
                <a:cs typeface="Times"/>
              </a:rPr>
              <a:t>. Fuel </a:t>
            </a:r>
            <a:r>
              <a:rPr lang="en-US" dirty="0" smtClean="0">
                <a:latin typeface="Times"/>
                <a:cs typeface="Times"/>
              </a:rPr>
              <a:t>matrix   2. Fuel cladding   3. Main circulation circuit   4. Inner containment </a:t>
            </a:r>
          </a:p>
          <a:p>
            <a:pPr marL="342900" indent="-342900"/>
            <a:r>
              <a:rPr lang="en-US" dirty="0" smtClean="0">
                <a:latin typeface="Times"/>
                <a:cs typeface="Times"/>
              </a:rPr>
              <a:t>   system   5. Outer containment system.</a:t>
            </a:r>
          </a:p>
          <a:p>
            <a:pPr marL="342900" indent="-342900">
              <a:buFont typeface="Wingdings" charset="2"/>
              <a:buChar char="ü"/>
            </a:pPr>
            <a:endParaRPr lang="en-US" dirty="0" smtClean="0">
              <a:solidFill>
                <a:srgbClr val="FBF9F3"/>
              </a:solidFill>
              <a:latin typeface="Times"/>
              <a:cs typeface="Times"/>
            </a:endParaRPr>
          </a:p>
          <a:p>
            <a:pPr marL="342900" indent="-342900">
              <a:buFont typeface="Wingdings" charset="2"/>
              <a:buChar char="ü"/>
            </a:pPr>
            <a:r>
              <a:rPr lang="en-US" dirty="0" smtClean="0">
                <a:solidFill>
                  <a:srgbClr val="FBF9F3"/>
                </a:solidFill>
                <a:latin typeface="Times"/>
                <a:cs typeface="Times"/>
              </a:rPr>
              <a:t>Double containment building </a:t>
            </a:r>
            <a:r>
              <a:rPr lang="en-US" dirty="0" smtClean="0">
                <a:latin typeface="Times"/>
                <a:cs typeface="Times"/>
              </a:rPr>
              <a:t>– 1.  Primary containment designed to maintain </a:t>
            </a:r>
          </a:p>
          <a:p>
            <a:pPr marL="342900" indent="-342900"/>
            <a:r>
              <a:rPr lang="en-US" dirty="0" smtClean="0">
                <a:latin typeface="Times"/>
                <a:cs typeface="Times"/>
              </a:rPr>
              <a:t>                                                        pressure at 0.4Mpa</a:t>
            </a:r>
          </a:p>
          <a:p>
            <a:pPr marL="342900" indent="-342900"/>
            <a:r>
              <a:rPr lang="en-US" dirty="0" smtClean="0">
                <a:latin typeface="Times"/>
                <a:cs typeface="Times"/>
              </a:rPr>
              <a:t>                                                   2.  Secondary Containment designed for external </a:t>
            </a:r>
          </a:p>
          <a:p>
            <a:pPr marL="342900" indent="-342900"/>
            <a:r>
              <a:rPr lang="en-US" dirty="0" smtClean="0">
                <a:latin typeface="Times"/>
                <a:cs typeface="Times"/>
              </a:rPr>
              <a:t>                              effects, such as missile attack, aircraft crash and shockwaves.</a:t>
            </a:r>
          </a:p>
          <a:p>
            <a:pPr marL="342900" indent="-342900">
              <a:buFont typeface="Wingdings" charset="2"/>
              <a:buChar char="ü"/>
            </a:pPr>
            <a:endParaRPr lang="en-US" dirty="0" smtClean="0">
              <a:latin typeface="Times"/>
              <a:cs typeface="Times"/>
            </a:endParaRPr>
          </a:p>
          <a:p>
            <a:pPr marL="342900" indent="-342900">
              <a:buFont typeface="Wingdings" charset="2"/>
              <a:buChar char="ü"/>
            </a:pPr>
            <a:r>
              <a:rPr lang="en-US" dirty="0" smtClean="0">
                <a:solidFill>
                  <a:srgbClr val="FBF9F3"/>
                </a:solidFill>
                <a:latin typeface="Times"/>
                <a:cs typeface="Times"/>
              </a:rPr>
              <a:t>Two stage Hydro Accumulators </a:t>
            </a:r>
            <a:r>
              <a:rPr lang="en-US" dirty="0" smtClean="0">
                <a:latin typeface="Times"/>
                <a:cs typeface="Times"/>
              </a:rPr>
              <a:t>– They ensure the supply of borated water to the</a:t>
            </a:r>
          </a:p>
          <a:p>
            <a:pPr marL="342900" indent="-342900"/>
            <a:r>
              <a:rPr lang="en-US" dirty="0" smtClean="0">
                <a:latin typeface="Times"/>
                <a:cs typeface="Times"/>
              </a:rPr>
              <a:t>      reactor core in case of loss of coolant or low pressure.</a:t>
            </a:r>
          </a:p>
          <a:p>
            <a:pPr marL="342900" indent="-342900">
              <a:buFont typeface="Wingdings" charset="2"/>
              <a:buChar char="ü"/>
            </a:pPr>
            <a:endParaRPr lang="en-US" dirty="0" smtClean="0">
              <a:latin typeface="Times"/>
              <a:cs typeface="Times"/>
            </a:endParaRPr>
          </a:p>
          <a:p>
            <a:pPr marL="342900" indent="-342900">
              <a:buFont typeface="Wingdings" charset="2"/>
              <a:buChar char="ü"/>
            </a:pPr>
            <a:r>
              <a:rPr lang="en-US" dirty="0" smtClean="0">
                <a:solidFill>
                  <a:srgbClr val="FBF9F3"/>
                </a:solidFill>
                <a:latin typeface="Times"/>
                <a:cs typeface="Times"/>
              </a:rPr>
              <a:t>Core catcher </a:t>
            </a:r>
            <a:r>
              <a:rPr lang="en-US" dirty="0" smtClean="0">
                <a:latin typeface="Times"/>
                <a:cs typeface="Times"/>
              </a:rPr>
              <a:t>– in extreme situation of core melting and breaching the pressure vessel, the </a:t>
            </a:r>
          </a:p>
          <a:p>
            <a:pPr marL="342900" indent="-342900"/>
            <a:r>
              <a:rPr lang="en-US" dirty="0" smtClean="0">
                <a:latin typeface="Times"/>
                <a:cs typeface="Times"/>
              </a:rPr>
              <a:t>      core catcher below the pressure vessel will ensure that the molten core mixes with a large </a:t>
            </a:r>
          </a:p>
          <a:p>
            <a:pPr marL="342900" indent="-342900"/>
            <a:r>
              <a:rPr lang="en-US" dirty="0" smtClean="0">
                <a:latin typeface="Times"/>
                <a:cs typeface="Times"/>
              </a:rPr>
              <a:t>      quantity of neutron absorbing material and thus prevent the possibility of a nuclear</a:t>
            </a:r>
          </a:p>
          <a:p>
            <a:pPr marL="342900" indent="-342900"/>
            <a:r>
              <a:rPr lang="en-US" dirty="0" smtClean="0">
                <a:latin typeface="Times"/>
                <a:cs typeface="Times"/>
              </a:rPr>
              <a:t>      explosion. Only the most modern designs have such a provision.</a:t>
            </a:r>
            <a:r>
              <a:rPr lang="en-US" dirty="0" smtClean="0">
                <a:solidFill>
                  <a:srgbClr val="FFFFFF"/>
                </a:solidFill>
                <a:latin typeface="Times"/>
                <a:cs typeface="Times"/>
              </a:rPr>
              <a:t> </a:t>
            </a:r>
            <a:endParaRPr lang="en-US" dirty="0">
              <a:solidFill>
                <a:srgbClr val="FFFFFF"/>
              </a:solidFill>
              <a:latin typeface="Times"/>
              <a:cs typeface="Time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690994" y="125115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9240" y="914400"/>
            <a:ext cx="8597225" cy="489364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342900" indent="-342900" algn="dist">
              <a:spcAft>
                <a:spcPts val="600"/>
              </a:spcAft>
              <a:buFont typeface="Wingdings" charset="2"/>
              <a:buChar char="ü"/>
            </a:pPr>
            <a:r>
              <a:rPr lang="en-US" dirty="0" smtClean="0">
                <a:latin typeface="Times"/>
                <a:cs typeface="Times"/>
              </a:rPr>
              <a:t>The reactor can withstand external effects involving earthquake, tsunami/storm,  </a:t>
            </a:r>
          </a:p>
          <a:p>
            <a:pPr marL="342900" indent="-342900" algn="dist">
              <a:spcAft>
                <a:spcPts val="600"/>
              </a:spcAft>
            </a:pPr>
            <a:r>
              <a:rPr lang="en-US" dirty="0" smtClean="0">
                <a:latin typeface="Times"/>
                <a:cs typeface="Times"/>
              </a:rPr>
              <a:t>    tidal waves, cyclones, shock waves, fire and aircraft impact.</a:t>
            </a:r>
          </a:p>
          <a:p>
            <a:pPr marL="342900" indent="-342900" algn="dist">
              <a:spcAft>
                <a:spcPts val="600"/>
              </a:spcAft>
              <a:buFont typeface="Wingdings" charset="2"/>
              <a:buChar char="ü"/>
            </a:pPr>
            <a:endParaRPr lang="en-US" dirty="0" smtClean="0">
              <a:latin typeface="Times"/>
              <a:cs typeface="Times"/>
            </a:endParaRPr>
          </a:p>
          <a:p>
            <a:pPr marL="342900" indent="-342900" algn="dist">
              <a:spcAft>
                <a:spcPts val="600"/>
              </a:spcAft>
              <a:buFont typeface="Wingdings" charset="2"/>
              <a:buChar char="ü"/>
            </a:pPr>
            <a:r>
              <a:rPr lang="en-US" dirty="0" smtClean="0">
                <a:latin typeface="Times"/>
                <a:cs typeface="Times"/>
              </a:rPr>
              <a:t>Kudankulam  is located far off (about 1500 km) from the </a:t>
            </a:r>
            <a:r>
              <a:rPr lang="en-US" dirty="0" smtClean="0">
                <a:latin typeface="Times"/>
                <a:cs typeface="Times"/>
              </a:rPr>
              <a:t>tsunami genic </a:t>
            </a:r>
            <a:r>
              <a:rPr lang="en-US" dirty="0" smtClean="0">
                <a:latin typeface="Times"/>
                <a:cs typeface="Times"/>
              </a:rPr>
              <a:t>fault</a:t>
            </a:r>
          </a:p>
          <a:p>
            <a:pPr marL="342900" indent="-342900" algn="dist">
              <a:spcAft>
                <a:spcPts val="600"/>
              </a:spcAft>
            </a:pPr>
            <a:r>
              <a:rPr lang="en-US" dirty="0" smtClean="0">
                <a:latin typeface="Times"/>
                <a:cs typeface="Times"/>
              </a:rPr>
              <a:t>    (where tsunami originate). Thus, if there is a tsunami, it would take time and lose its</a:t>
            </a:r>
          </a:p>
          <a:p>
            <a:pPr marL="342900" indent="-342900" algn="dist">
              <a:spcAft>
                <a:spcPts val="600"/>
              </a:spcAft>
            </a:pPr>
            <a:r>
              <a:rPr lang="en-US" dirty="0" smtClean="0">
                <a:latin typeface="Times"/>
                <a:cs typeface="Times"/>
              </a:rPr>
              <a:t>     energy by the time it strikes Kudankulam site.</a:t>
            </a:r>
          </a:p>
          <a:p>
            <a:pPr marL="342900" indent="-342900" algn="dist">
              <a:spcAft>
                <a:spcPts val="600"/>
              </a:spcAft>
              <a:buFont typeface="Wingdings" charset="2"/>
              <a:buChar char="ü"/>
            </a:pPr>
            <a:endParaRPr lang="en-US" dirty="0" smtClean="0">
              <a:latin typeface="Times"/>
              <a:cs typeface="Times"/>
            </a:endParaRPr>
          </a:p>
          <a:p>
            <a:pPr marL="342900" indent="-342900" algn="dist">
              <a:spcAft>
                <a:spcPts val="600"/>
              </a:spcAft>
              <a:buFont typeface="Wingdings" charset="2"/>
              <a:buChar char="ü"/>
            </a:pPr>
            <a:r>
              <a:rPr lang="en-US" dirty="0" smtClean="0">
                <a:latin typeface="Times"/>
                <a:cs typeface="Times"/>
              </a:rPr>
              <a:t>In case of flood - The supplementary control room and the four diesel generator room – </a:t>
            </a:r>
          </a:p>
          <a:p>
            <a:pPr marL="342900" indent="-342900" algn="dist">
              <a:spcAft>
                <a:spcPts val="600"/>
              </a:spcAft>
            </a:pPr>
            <a:r>
              <a:rPr lang="en-US" dirty="0" smtClean="0">
                <a:latin typeface="Times"/>
                <a:cs typeface="Times"/>
              </a:rPr>
              <a:t>     safety train rooms are provided with water tight doors to protect them against flooding.</a:t>
            </a:r>
          </a:p>
          <a:p>
            <a:pPr marL="342900" indent="-342900" algn="dist">
              <a:spcAft>
                <a:spcPts val="600"/>
              </a:spcAft>
            </a:pPr>
            <a:r>
              <a:rPr lang="en-US" dirty="0" smtClean="0">
                <a:latin typeface="Times"/>
                <a:cs typeface="Times"/>
              </a:rPr>
              <a:t>    These doors remain shut when the reactors are operational.</a:t>
            </a:r>
            <a:br>
              <a:rPr lang="en-US" dirty="0" smtClean="0">
                <a:latin typeface="Times"/>
                <a:cs typeface="Times"/>
              </a:rPr>
            </a:br>
            <a:endParaRPr lang="en-US" dirty="0" smtClean="0">
              <a:latin typeface="Times"/>
              <a:cs typeface="Times"/>
            </a:endParaRPr>
          </a:p>
          <a:p>
            <a:pPr marL="342900" indent="-342900" algn="dist">
              <a:spcAft>
                <a:spcPts val="600"/>
              </a:spcAft>
              <a:buFont typeface="Wingdings" charset="2"/>
              <a:buChar char="ü"/>
            </a:pPr>
            <a:r>
              <a:rPr lang="en-US" dirty="0" smtClean="0">
                <a:latin typeface="Times"/>
                <a:cs typeface="Times"/>
              </a:rPr>
              <a:t>Kudankulam is located in the zone of very low seismic potential.</a:t>
            </a:r>
          </a:p>
          <a:p>
            <a:pPr marL="342900" indent="-342900" algn="dist">
              <a:spcAft>
                <a:spcPts val="600"/>
              </a:spcAft>
              <a:buFont typeface="Wingdings" charset="2"/>
              <a:buChar char="ü"/>
            </a:pPr>
            <a:endParaRPr lang="en-US" dirty="0" smtClean="0">
              <a:latin typeface="Times"/>
              <a:cs typeface="Times"/>
            </a:endParaRPr>
          </a:p>
          <a:p>
            <a:pPr marL="342900" indent="-342900" algn="dist">
              <a:spcAft>
                <a:spcPts val="600"/>
              </a:spcAft>
            </a:pPr>
            <a:r>
              <a:rPr lang="en-US" b="1" dirty="0" smtClean="0">
                <a:solidFill>
                  <a:schemeClr val="accent2"/>
                </a:solidFill>
                <a:latin typeface="Times"/>
                <a:cs typeface="Times"/>
              </a:rPr>
              <a:t>    </a:t>
            </a:r>
            <a:r>
              <a:rPr b="1" dirty="0" smtClean="0">
                <a:solidFill>
                  <a:srgbClr val="FFFF00"/>
                </a:solidFill>
                <a:latin typeface="Times"/>
                <a:cs typeface="Times"/>
              </a:rPr>
              <a:t>"Kudankulam plant has 3G safety aspects, I am fully satisfied," Mr Kalam said.</a:t>
            </a:r>
            <a:r>
              <a:rPr lang="en-US" b="1" dirty="0" smtClean="0">
                <a:solidFill>
                  <a:srgbClr val="FFFF00"/>
                </a:solidFill>
                <a:latin typeface="Times"/>
                <a:cs typeface="Times"/>
              </a:rPr>
              <a:t>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04800" y="457200"/>
            <a:ext cx="5255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>
                    <a:lumMod val="50000"/>
                  </a:schemeClr>
                </a:solidFill>
              </a:rPr>
              <a:t>Is it necessary to plant any more nuclear reactors ?</a:t>
            </a: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9273" y="1219200"/>
            <a:ext cx="6201838" cy="4801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dirty="0" smtClean="0">
                <a:latin typeface="Times"/>
                <a:cs typeface="Times"/>
              </a:rPr>
              <a:t>India </a:t>
            </a:r>
            <a:r>
              <a:rPr lang="en-US" dirty="0" smtClean="0">
                <a:latin typeface="Times"/>
                <a:cs typeface="Times"/>
              </a:rPr>
              <a:t>is</a:t>
            </a:r>
            <a:r>
              <a:rPr dirty="0" smtClean="0">
                <a:latin typeface="Times"/>
                <a:cs typeface="Times"/>
              </a:rPr>
              <a:t> the fourth largest energy consumer in the world, after the </a:t>
            </a:r>
            <a:endParaRPr lang="en-US" dirty="0" smtClean="0">
              <a:latin typeface="Times"/>
              <a:cs typeface="Times"/>
            </a:endParaRPr>
          </a:p>
          <a:p>
            <a:r>
              <a:rPr dirty="0" smtClean="0">
                <a:latin typeface="Times"/>
                <a:cs typeface="Times"/>
              </a:rPr>
              <a:t>United States, China, and Russia</a:t>
            </a:r>
            <a:r>
              <a:rPr lang="en-US" dirty="0" smtClean="0">
                <a:latin typeface="Times"/>
                <a:cs typeface="Times"/>
              </a:rPr>
              <a:t>.</a:t>
            </a:r>
          </a:p>
          <a:p>
            <a:endParaRPr lang="en-US" dirty="0" smtClean="0">
              <a:latin typeface="Times"/>
              <a:cs typeface="Times"/>
            </a:endParaRPr>
          </a:p>
          <a:p>
            <a:r>
              <a:rPr dirty="0" smtClean="0">
                <a:latin typeface="Times"/>
                <a:cs typeface="Times"/>
              </a:rPr>
              <a:t>India produced roughly </a:t>
            </a:r>
            <a:r>
              <a:rPr lang="en-US" dirty="0" smtClean="0">
                <a:latin typeface="Times"/>
                <a:cs typeface="Times"/>
              </a:rPr>
              <a:t>0.</a:t>
            </a:r>
            <a:r>
              <a:rPr dirty="0" smtClean="0">
                <a:latin typeface="Times"/>
                <a:cs typeface="Times"/>
              </a:rPr>
              <a:t>95</a:t>
            </a:r>
            <a:r>
              <a:rPr lang="en-US" dirty="0" smtClean="0">
                <a:latin typeface="Times"/>
                <a:cs typeface="Times"/>
              </a:rPr>
              <a:t> million</a:t>
            </a:r>
          </a:p>
          <a:p>
            <a:r>
              <a:rPr dirty="0" smtClean="0">
                <a:latin typeface="Times"/>
                <a:cs typeface="Times"/>
              </a:rPr>
              <a:t>barrels </a:t>
            </a:r>
            <a:r>
              <a:rPr lang="en-US" dirty="0" smtClean="0">
                <a:latin typeface="Times"/>
                <a:cs typeface="Times"/>
              </a:rPr>
              <a:t>of oil </a:t>
            </a:r>
            <a:r>
              <a:rPr dirty="0" smtClean="0">
                <a:latin typeface="Times"/>
                <a:cs typeface="Times"/>
              </a:rPr>
              <a:t>per day</a:t>
            </a:r>
            <a:r>
              <a:rPr lang="en-US" dirty="0" smtClean="0">
                <a:latin typeface="Times"/>
                <a:cs typeface="Times"/>
              </a:rPr>
              <a:t>. </a:t>
            </a:r>
            <a:r>
              <a:rPr dirty="0" smtClean="0">
                <a:latin typeface="Times"/>
                <a:cs typeface="Times"/>
              </a:rPr>
              <a:t>The country</a:t>
            </a:r>
            <a:endParaRPr lang="en-US" dirty="0" smtClean="0">
              <a:latin typeface="Times"/>
              <a:cs typeface="Times"/>
            </a:endParaRPr>
          </a:p>
          <a:p>
            <a:r>
              <a:rPr dirty="0" smtClean="0">
                <a:latin typeface="Times"/>
                <a:cs typeface="Times"/>
              </a:rPr>
              <a:t>consumed 3.2 million barrels per day</a:t>
            </a:r>
            <a:r>
              <a:rPr lang="en-US" dirty="0" smtClean="0">
                <a:latin typeface="Times"/>
                <a:cs typeface="Times"/>
              </a:rPr>
              <a:t>.</a:t>
            </a:r>
          </a:p>
          <a:p>
            <a:r>
              <a:rPr lang="en-US" dirty="0" smtClean="0">
                <a:latin typeface="Times"/>
                <a:cs typeface="Times"/>
              </a:rPr>
              <a:t>So, we import 2.2 million barrels per </a:t>
            </a:r>
          </a:p>
          <a:p>
            <a:r>
              <a:rPr lang="en-US" dirty="0" smtClean="0">
                <a:latin typeface="Times"/>
                <a:cs typeface="Times"/>
              </a:rPr>
              <a:t>day from Saudi Arabia and Iran.</a:t>
            </a:r>
          </a:p>
          <a:p>
            <a:endParaRPr lang="en-US" dirty="0" smtClean="0">
              <a:latin typeface="Times"/>
              <a:cs typeface="Times"/>
            </a:endParaRPr>
          </a:p>
          <a:p>
            <a:r>
              <a:rPr lang="en-US" dirty="0" smtClean="0">
                <a:latin typeface="Times"/>
                <a:cs typeface="Times"/>
              </a:rPr>
              <a:t>Coal based </a:t>
            </a:r>
            <a:r>
              <a:rPr dirty="0" smtClean="0">
                <a:latin typeface="Times"/>
                <a:cs typeface="Times"/>
              </a:rPr>
              <a:t>thermal power </a:t>
            </a:r>
            <a:r>
              <a:rPr lang="en-US" dirty="0" smtClean="0">
                <a:latin typeface="Times"/>
                <a:cs typeface="Times"/>
              </a:rPr>
              <a:t>plant </a:t>
            </a:r>
          </a:p>
          <a:p>
            <a:r>
              <a:rPr lang="en-US" dirty="0" smtClean="0">
                <a:latin typeface="Times"/>
                <a:cs typeface="Times"/>
              </a:rPr>
              <a:t>generate </a:t>
            </a:r>
            <a:r>
              <a:rPr dirty="0" smtClean="0">
                <a:latin typeface="Times"/>
                <a:cs typeface="Times"/>
              </a:rPr>
              <a:t>80 percent of</a:t>
            </a:r>
            <a:r>
              <a:rPr lang="en-US" dirty="0" smtClean="0">
                <a:latin typeface="Times"/>
                <a:cs typeface="Times"/>
              </a:rPr>
              <a:t> </a:t>
            </a:r>
            <a:r>
              <a:rPr dirty="0" smtClean="0">
                <a:latin typeface="Times"/>
                <a:cs typeface="Times"/>
              </a:rPr>
              <a:t>electricity in</a:t>
            </a:r>
            <a:endParaRPr lang="en-US" dirty="0" smtClean="0">
              <a:latin typeface="Times"/>
              <a:cs typeface="Times"/>
            </a:endParaRPr>
          </a:p>
          <a:p>
            <a:r>
              <a:rPr dirty="0" smtClean="0">
                <a:latin typeface="Times"/>
                <a:cs typeface="Times"/>
              </a:rPr>
              <a:t> India</a:t>
            </a:r>
            <a:r>
              <a:rPr lang="en-US" dirty="0" smtClean="0">
                <a:latin typeface="Times"/>
                <a:cs typeface="Times"/>
              </a:rPr>
              <a:t>.</a:t>
            </a:r>
          </a:p>
          <a:p>
            <a:endParaRPr lang="en-US" dirty="0" smtClean="0">
              <a:latin typeface="Times"/>
              <a:cs typeface="Times"/>
            </a:endParaRPr>
          </a:p>
          <a:p>
            <a:r>
              <a:rPr dirty="0" smtClean="0">
                <a:latin typeface="Times"/>
                <a:cs typeface="Times"/>
              </a:rPr>
              <a:t>India suffers from shortage</a:t>
            </a:r>
            <a:r>
              <a:rPr lang="en-US" dirty="0" smtClean="0">
                <a:latin typeface="Times"/>
                <a:cs typeface="Times"/>
              </a:rPr>
              <a:t> </a:t>
            </a:r>
            <a:r>
              <a:rPr dirty="0" smtClean="0">
                <a:latin typeface="Times"/>
                <a:cs typeface="Times"/>
              </a:rPr>
              <a:t>of </a:t>
            </a:r>
            <a:endParaRPr lang="en-US" dirty="0" smtClean="0">
              <a:latin typeface="Times"/>
              <a:cs typeface="Times"/>
            </a:endParaRPr>
          </a:p>
          <a:p>
            <a:r>
              <a:rPr dirty="0" smtClean="0">
                <a:latin typeface="Times"/>
                <a:cs typeface="Times"/>
              </a:rPr>
              <a:t>electricity.</a:t>
            </a:r>
            <a:r>
              <a:rPr lang="en-US" dirty="0" smtClean="0">
                <a:latin typeface="Times"/>
                <a:cs typeface="Times"/>
              </a:rPr>
              <a:t> R</a:t>
            </a:r>
            <a:r>
              <a:rPr dirty="0" smtClean="0">
                <a:latin typeface="Times"/>
                <a:cs typeface="Times"/>
              </a:rPr>
              <a:t>oughly 40 percent of </a:t>
            </a:r>
            <a:endParaRPr lang="en-US" dirty="0" smtClean="0">
              <a:latin typeface="Times"/>
              <a:cs typeface="Times"/>
            </a:endParaRPr>
          </a:p>
          <a:p>
            <a:r>
              <a:rPr dirty="0" smtClean="0">
                <a:latin typeface="Times"/>
                <a:cs typeface="Times"/>
              </a:rPr>
              <a:t>residences in</a:t>
            </a:r>
            <a:r>
              <a:rPr lang="en-US" dirty="0" smtClean="0">
                <a:latin typeface="Times"/>
                <a:cs typeface="Times"/>
              </a:rPr>
              <a:t> </a:t>
            </a:r>
            <a:r>
              <a:rPr dirty="0" smtClean="0">
                <a:latin typeface="Times"/>
                <a:cs typeface="Times"/>
              </a:rPr>
              <a:t>India are without</a:t>
            </a:r>
            <a:r>
              <a:rPr lang="en-US" dirty="0" smtClean="0">
                <a:latin typeface="Times"/>
                <a:cs typeface="Times"/>
              </a:rPr>
              <a:t> </a:t>
            </a:r>
          </a:p>
          <a:p>
            <a:r>
              <a:rPr dirty="0" smtClean="0">
                <a:latin typeface="Times"/>
                <a:cs typeface="Times"/>
              </a:rPr>
              <a:t>electricity</a:t>
            </a:r>
            <a:r>
              <a:rPr lang="en-US" dirty="0" smtClean="0">
                <a:latin typeface="Times"/>
                <a:cs typeface="Times"/>
              </a:rPr>
              <a:t>.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157201"/>
            <a:ext cx="4953000" cy="40911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997088"/>
            <a:ext cx="8763000" cy="5632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charset="2"/>
              <a:buChar char="ü"/>
            </a:pPr>
            <a:r>
              <a:rPr dirty="0" smtClean="0">
                <a:latin typeface="Times"/>
                <a:cs typeface="Times"/>
              </a:rPr>
              <a:t>India's nuclear power reactors consume, at most, 478 tonnes of uranium per year</a:t>
            </a:r>
            <a:r>
              <a:rPr lang="en-US" dirty="0" smtClean="0">
                <a:latin typeface="Times"/>
                <a:cs typeface="Times"/>
              </a:rPr>
              <a:t>.</a:t>
            </a:r>
          </a:p>
          <a:p>
            <a:pPr>
              <a:buFont typeface="Wingdings" charset="2"/>
              <a:buChar char="ü"/>
            </a:pPr>
            <a:endParaRPr lang="en-US" dirty="0" smtClean="0">
              <a:latin typeface="Times"/>
              <a:cs typeface="Times"/>
            </a:endParaRPr>
          </a:p>
          <a:p>
            <a:pPr>
              <a:buFont typeface="Wingdings" charset="2"/>
              <a:buChar char="ü"/>
            </a:pPr>
            <a:r>
              <a:rPr dirty="0" smtClean="0">
                <a:latin typeface="Times"/>
                <a:cs typeface="Times"/>
              </a:rPr>
              <a:t>Even if </a:t>
            </a:r>
            <a:r>
              <a:rPr lang="en-US" dirty="0" smtClean="0">
                <a:latin typeface="Times"/>
                <a:cs typeface="Times"/>
              </a:rPr>
              <a:t>we </a:t>
            </a:r>
            <a:r>
              <a:rPr dirty="0" smtClean="0">
                <a:latin typeface="Times"/>
                <a:cs typeface="Times"/>
              </a:rPr>
              <a:t>quadruple </a:t>
            </a:r>
            <a:r>
              <a:rPr lang="en-US" dirty="0" smtClean="0">
                <a:latin typeface="Times"/>
                <a:cs typeface="Times"/>
              </a:rPr>
              <a:t> our </a:t>
            </a:r>
            <a:r>
              <a:rPr dirty="0" smtClean="0">
                <a:latin typeface="Times"/>
                <a:cs typeface="Times"/>
              </a:rPr>
              <a:t>nuclear power output to 20GW by 2020, nuclear power generation would only consume 2000 tonnes of</a:t>
            </a:r>
            <a:r>
              <a:rPr lang="en-US" dirty="0" smtClean="0">
                <a:latin typeface="Times"/>
                <a:cs typeface="Times"/>
              </a:rPr>
              <a:t>  </a:t>
            </a:r>
            <a:r>
              <a:rPr dirty="0" smtClean="0">
                <a:latin typeface="Times"/>
                <a:cs typeface="Times"/>
              </a:rPr>
              <a:t>uranium per annum</a:t>
            </a:r>
            <a:r>
              <a:rPr lang="en-US" dirty="0" smtClean="0">
                <a:latin typeface="Times"/>
                <a:cs typeface="Times"/>
              </a:rPr>
              <a:t>.</a:t>
            </a:r>
          </a:p>
          <a:p>
            <a:pPr>
              <a:buFont typeface="Wingdings" charset="2"/>
              <a:buChar char="ü"/>
            </a:pPr>
            <a:endParaRPr lang="en-US" dirty="0" smtClean="0">
              <a:latin typeface="Times"/>
              <a:cs typeface="Times"/>
            </a:endParaRPr>
          </a:p>
          <a:p>
            <a:pPr>
              <a:buFont typeface="Wingdings" charset="2"/>
              <a:buChar char="ü"/>
            </a:pPr>
            <a:r>
              <a:rPr dirty="0" smtClean="0">
                <a:latin typeface="Times"/>
                <a:cs typeface="Times"/>
              </a:rPr>
              <a:t>India</a:t>
            </a:r>
            <a:r>
              <a:rPr lang="en-US" dirty="0" smtClean="0">
                <a:latin typeface="Times"/>
                <a:cs typeface="Times"/>
              </a:rPr>
              <a:t> has</a:t>
            </a:r>
            <a:r>
              <a:rPr dirty="0" smtClean="0">
                <a:latin typeface="Times"/>
                <a:cs typeface="Times"/>
              </a:rPr>
              <a:t> viable reserves of 80,000 to 112,000 tons of uranium, this represents a 40–50 years uranium supply for India's nuclear power Reactors</a:t>
            </a:r>
            <a:r>
              <a:rPr lang="en-US" dirty="0" smtClean="0">
                <a:latin typeface="Times"/>
                <a:cs typeface="Times"/>
              </a:rPr>
              <a:t>.</a:t>
            </a:r>
          </a:p>
          <a:p>
            <a:endParaRPr lang="en-US" dirty="0" smtClean="0">
              <a:latin typeface="Times"/>
              <a:cs typeface="Times"/>
            </a:endParaRPr>
          </a:p>
          <a:p>
            <a:pPr>
              <a:buFont typeface="Wingdings" charset="2"/>
              <a:buChar char="ü"/>
            </a:pPr>
            <a:r>
              <a:rPr dirty="0" smtClean="0">
                <a:latin typeface="Times"/>
                <a:cs typeface="Times"/>
              </a:rPr>
              <a:t>India </a:t>
            </a:r>
            <a:r>
              <a:rPr lang="en-US" dirty="0" smtClean="0">
                <a:latin typeface="Times"/>
                <a:cs typeface="Times"/>
              </a:rPr>
              <a:t>is </a:t>
            </a:r>
            <a:r>
              <a:rPr dirty="0" smtClean="0">
                <a:latin typeface="Times"/>
                <a:cs typeface="Times"/>
              </a:rPr>
              <a:t>develop</a:t>
            </a:r>
            <a:r>
              <a:rPr lang="en-US" dirty="0" err="1" smtClean="0">
                <a:latin typeface="Times"/>
                <a:cs typeface="Times"/>
              </a:rPr>
              <a:t>ing</a:t>
            </a:r>
            <a:r>
              <a:rPr dirty="0" smtClean="0">
                <a:latin typeface="Times"/>
                <a:cs typeface="Times"/>
              </a:rPr>
              <a:t> thorium</a:t>
            </a:r>
            <a:r>
              <a:rPr lang="en-US" dirty="0" smtClean="0">
                <a:latin typeface="Times"/>
                <a:cs typeface="Times"/>
              </a:rPr>
              <a:t> reactor</a:t>
            </a:r>
            <a:r>
              <a:rPr dirty="0" smtClean="0">
                <a:latin typeface="Times"/>
                <a:cs typeface="Times"/>
              </a:rPr>
              <a:t> </a:t>
            </a:r>
            <a:r>
              <a:rPr lang="en-US" dirty="0" smtClean="0">
                <a:latin typeface="Times"/>
                <a:cs typeface="Times"/>
              </a:rPr>
              <a:t>since</a:t>
            </a:r>
            <a:r>
              <a:rPr dirty="0" smtClean="0">
                <a:latin typeface="Times"/>
                <a:cs typeface="Times"/>
              </a:rPr>
              <a:t> Uranium deposits in the nation are limited</a:t>
            </a:r>
            <a:r>
              <a:rPr lang="en-US" dirty="0" smtClean="0">
                <a:latin typeface="Times"/>
                <a:cs typeface="Times"/>
              </a:rPr>
              <a:t>,</a:t>
            </a:r>
          </a:p>
          <a:p>
            <a:r>
              <a:rPr dirty="0" smtClean="0">
                <a:latin typeface="Times"/>
                <a:cs typeface="Times"/>
              </a:rPr>
              <a:t> </a:t>
            </a:r>
            <a:r>
              <a:rPr lang="en-US" dirty="0" smtClean="0">
                <a:latin typeface="Times"/>
                <a:cs typeface="Times"/>
              </a:rPr>
              <a:t>but </a:t>
            </a:r>
            <a:r>
              <a:rPr dirty="0" smtClean="0">
                <a:latin typeface="Times"/>
                <a:cs typeface="Times"/>
              </a:rPr>
              <a:t>there are much greater reserves of thorium and it could</a:t>
            </a:r>
            <a:r>
              <a:rPr lang="en-US" dirty="0" smtClean="0">
                <a:latin typeface="Times"/>
                <a:cs typeface="Times"/>
              </a:rPr>
              <a:t> </a:t>
            </a:r>
            <a:r>
              <a:rPr dirty="0" smtClean="0">
                <a:latin typeface="Times"/>
                <a:cs typeface="Times"/>
              </a:rPr>
              <a:t>provide hundreds of times the energy with the same mass of fuel</a:t>
            </a:r>
            <a:r>
              <a:rPr lang="en-US" dirty="0" smtClean="0">
                <a:latin typeface="Times"/>
                <a:cs typeface="Times"/>
              </a:rPr>
              <a:t>.</a:t>
            </a:r>
          </a:p>
          <a:p>
            <a:endParaRPr lang="en-US" dirty="0" smtClean="0">
              <a:latin typeface="Times"/>
              <a:cs typeface="Times"/>
            </a:endParaRPr>
          </a:p>
          <a:p>
            <a:pPr>
              <a:buFont typeface="Wingdings" charset="2"/>
              <a:buChar char="ü"/>
            </a:pPr>
            <a:r>
              <a:rPr lang="en-US" b="1" dirty="0" smtClean="0">
                <a:solidFill>
                  <a:srgbClr val="FBF9F3"/>
                </a:solidFill>
                <a:latin typeface="Times"/>
                <a:cs typeface="Times"/>
              </a:rPr>
              <a:t>I</a:t>
            </a:r>
            <a:r>
              <a:rPr b="1" dirty="0" smtClean="0">
                <a:solidFill>
                  <a:srgbClr val="FBF9F3"/>
                </a:solidFill>
                <a:latin typeface="Times"/>
                <a:cs typeface="Times"/>
              </a:rPr>
              <a:t>TER</a:t>
            </a:r>
            <a:r>
              <a:rPr dirty="0" smtClean="0">
                <a:solidFill>
                  <a:srgbClr val="FBF9F3"/>
                </a:solidFill>
                <a:latin typeface="Times"/>
                <a:cs typeface="Times"/>
              </a:rPr>
              <a:t> (</a:t>
            </a:r>
            <a:r>
              <a:rPr b="1" dirty="0" smtClean="0">
                <a:solidFill>
                  <a:srgbClr val="FBF9F3"/>
                </a:solidFill>
                <a:latin typeface="Times"/>
                <a:cs typeface="Times"/>
              </a:rPr>
              <a:t>International Thermonuclear Experimental Reactor</a:t>
            </a:r>
            <a:r>
              <a:rPr dirty="0" smtClean="0">
                <a:solidFill>
                  <a:srgbClr val="FBF9F3"/>
                </a:solidFill>
                <a:latin typeface="Times"/>
                <a:cs typeface="Times"/>
              </a:rPr>
              <a:t>) </a:t>
            </a:r>
            <a:endParaRPr lang="en-US" dirty="0" smtClean="0">
              <a:solidFill>
                <a:srgbClr val="FBF9F3"/>
              </a:solidFill>
              <a:latin typeface="Times"/>
              <a:cs typeface="Times"/>
            </a:endParaRPr>
          </a:p>
          <a:p>
            <a:r>
              <a:rPr dirty="0" smtClean="0">
                <a:latin typeface="Times"/>
                <a:cs typeface="Times"/>
              </a:rPr>
              <a:t>is an international nuclear fusion research and </a:t>
            </a:r>
            <a:endParaRPr lang="en-US" dirty="0" smtClean="0">
              <a:latin typeface="Times"/>
              <a:cs typeface="Times"/>
            </a:endParaRPr>
          </a:p>
          <a:p>
            <a:r>
              <a:rPr dirty="0" smtClean="0">
                <a:latin typeface="Times"/>
                <a:cs typeface="Times"/>
              </a:rPr>
              <a:t>engineering project, which is currently building the</a:t>
            </a:r>
            <a:endParaRPr lang="en-US" dirty="0" smtClean="0">
              <a:latin typeface="Times"/>
              <a:cs typeface="Times"/>
            </a:endParaRPr>
          </a:p>
          <a:p>
            <a:r>
              <a:rPr dirty="0" smtClean="0">
                <a:latin typeface="Times"/>
                <a:cs typeface="Times"/>
              </a:rPr>
              <a:t> world's largest and most advanced experimental </a:t>
            </a:r>
            <a:endParaRPr lang="en-US" dirty="0" smtClean="0">
              <a:latin typeface="Times"/>
              <a:cs typeface="Times"/>
            </a:endParaRPr>
          </a:p>
          <a:p>
            <a:r>
              <a:rPr dirty="0" smtClean="0">
                <a:latin typeface="Times"/>
                <a:cs typeface="Times"/>
              </a:rPr>
              <a:t>nuclear fusion reactor</a:t>
            </a:r>
            <a:r>
              <a:rPr lang="en-US" dirty="0" smtClean="0">
                <a:latin typeface="Times"/>
                <a:cs typeface="Times"/>
              </a:rPr>
              <a:t>. </a:t>
            </a:r>
          </a:p>
          <a:p>
            <a:endParaRPr lang="en-US" dirty="0" smtClean="0">
              <a:latin typeface="Times"/>
              <a:cs typeface="Times"/>
            </a:endParaRPr>
          </a:p>
          <a:p>
            <a:pPr>
              <a:buFont typeface="Wingdings" charset="2"/>
              <a:buChar char="ü"/>
            </a:pPr>
            <a:r>
              <a:rPr dirty="0" smtClean="0">
                <a:latin typeface="Times"/>
                <a:cs typeface="Times"/>
              </a:rPr>
              <a:t>ITER's member states — the EU, India, </a:t>
            </a:r>
            <a:endParaRPr lang="en-US" dirty="0" smtClean="0">
              <a:latin typeface="Times"/>
              <a:cs typeface="Times"/>
            </a:endParaRPr>
          </a:p>
          <a:p>
            <a:r>
              <a:rPr dirty="0" smtClean="0">
                <a:latin typeface="Times"/>
                <a:cs typeface="Times"/>
              </a:rPr>
              <a:t>Russia, China, South Korea, Japan and the United States</a:t>
            </a:r>
            <a:r>
              <a:rPr lang="en-US" dirty="0" smtClean="0">
                <a:latin typeface="Times"/>
                <a:cs typeface="Times"/>
              </a:rPr>
              <a:t>.</a:t>
            </a:r>
            <a:endParaRPr lang="en-US" dirty="0">
              <a:latin typeface="Times"/>
              <a:cs typeface="Times"/>
            </a:endParaRPr>
          </a:p>
        </p:txBody>
      </p:sp>
      <p:pic>
        <p:nvPicPr>
          <p:cNvPr id="5" name="Picture 4" descr="200px-ITER_Logo_NoonYellow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4889500"/>
            <a:ext cx="2540000" cy="120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81000"/>
            <a:ext cx="3339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>
                    <a:lumMod val="50000"/>
                  </a:schemeClr>
                </a:solidFill>
                <a:latin typeface="Times"/>
                <a:cs typeface="Times"/>
              </a:rPr>
              <a:t>Future of Indian Nuclear Power 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Times"/>
              <a:cs typeface="Time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52800" y="3048000"/>
            <a:ext cx="18774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800" b="1" dirty="0" smtClean="0"/>
              <a:t>Thank you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Travelogue">
  <a:themeElements>
    <a:clrScheme name="Travelogue">
      <a:dk1>
        <a:sysClr val="windowText" lastClr="000000"/>
      </a:dk1>
      <a:lt1>
        <a:srgbClr val="EAC968"/>
      </a:lt1>
      <a:dk2>
        <a:srgbClr val="2A2515"/>
      </a:dk2>
      <a:lt2>
        <a:srgbClr val="82682C"/>
      </a:lt2>
      <a:accent1>
        <a:srgbClr val="B74D21"/>
      </a:accent1>
      <a:accent2>
        <a:srgbClr val="A32323"/>
      </a:accent2>
      <a:accent3>
        <a:srgbClr val="4576A3"/>
      </a:accent3>
      <a:accent4>
        <a:srgbClr val="615D9A"/>
      </a:accent4>
      <a:accent5>
        <a:srgbClr val="67924B"/>
      </a:accent5>
      <a:accent6>
        <a:srgbClr val="BF7B1B"/>
      </a:accent6>
      <a:hlink>
        <a:srgbClr val="99350B"/>
      </a:hlink>
      <a:folHlink>
        <a:srgbClr val="785140"/>
      </a:folHlink>
    </a:clrScheme>
    <a:fontScheme name="Travelogue">
      <a:majorFont>
        <a:latin typeface="Calisto MT"/>
        <a:ea typeface=""/>
        <a:cs typeface=""/>
        <a:font script="Jpan" typeface="ＭＳ 明朝"/>
      </a:majorFont>
      <a:minorFont>
        <a:latin typeface="Calisto MT"/>
        <a:ea typeface=""/>
        <a:cs typeface=""/>
        <a:font script="Jpan" typeface="ＭＳ 明朝"/>
      </a:minorFont>
    </a:fontScheme>
    <a:fmtScheme name="Travelogu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130000"/>
              </a:schemeClr>
              <a:schemeClr val="phClr">
                <a:tint val="80000"/>
                <a:satMod val="150000"/>
              </a:schemeClr>
            </a:duotone>
          </a:blip>
          <a:tile tx="0" ty="0" sx="50000" sy="5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20000"/>
                <a:satMod val="130000"/>
              </a:schemeClr>
              <a:schemeClr val="phClr">
                <a:tint val="80000"/>
                <a:satMod val="150000"/>
              </a:schemeClr>
            </a:duotone>
          </a:blip>
          <a:tile tx="0" ty="0" sx="50000" sy="50000" flip="none" algn="tl"/>
        </a:blip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6600000" sx="102000" sy="102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88900" dist="63500" dir="2400000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sunset" dir="t">
              <a:rot lat="0" lon="0" rev="4200000"/>
            </a:lightRig>
          </a:scene3d>
          <a:sp3d>
            <a:bevelT w="635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0000"/>
                <a:hueMod val="85000"/>
                <a:satMod val="300000"/>
                <a:lumMod val="100000"/>
              </a:schemeClr>
            </a:gs>
            <a:gs pos="40000">
              <a:schemeClr val="phClr">
                <a:tint val="45000"/>
                <a:shade val="99000"/>
                <a:hueMod val="95000"/>
                <a:satMod val="300000"/>
                <a:lumMod val="100000"/>
              </a:schemeClr>
            </a:gs>
            <a:gs pos="100000">
              <a:schemeClr val="phClr">
                <a:shade val="20000"/>
                <a:hueMod val="95000"/>
                <a:satMod val="255000"/>
                <a:lumMod val="100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70000"/>
                <a:satMod val="2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Travelogue.thmx</Template>
  <TotalTime>628</TotalTime>
  <Words>758</Words>
  <Application>Microsoft Macintosh PowerPoint</Application>
  <PresentationFormat>On-screen Show (4:3)</PresentationFormat>
  <Paragraphs>146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Travelogue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VVER – Russian PWR( pressurized water reactor) (Water-Cooled, Water-Moderated, Energy Reactor)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IIT Guwahati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arun mathew</dc:creator>
  <cp:lastModifiedBy>tony kochumalil</cp:lastModifiedBy>
  <cp:revision>111</cp:revision>
  <dcterms:created xsi:type="dcterms:W3CDTF">2012-10-04T03:26:30Z</dcterms:created>
  <dcterms:modified xsi:type="dcterms:W3CDTF">2013-01-04T02:36:39Z</dcterms:modified>
</cp:coreProperties>
</file>